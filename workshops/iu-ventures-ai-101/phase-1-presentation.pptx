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B4E"/>
        </a:solidFill>
        <a:effectLst/>
      </p:bgPr>
    </p:bg>
    <p:spTree>
      <p:nvGrpSpPr>
        <p:cNvPr id="1" name=""/>
        <p:cNvGrpSpPr/>
        <p:nvPr/>
      </p:nvGrpSpPr>
      <p:grpSpPr/>
      <p:sp>
        <p:nvSpPr>
          <p:cNvPr id="2" name="TextBox 1"/>
          <p:cNvSpPr txBox="1"/>
          <p:nvPr/>
        </p:nvSpPr>
        <p:spPr>
          <a:xfrm>
            <a:off x="822960" y="1737360"/>
            <a:ext cx="10515600" cy="1188720"/>
          </a:xfrm>
          <a:prstGeom prst="rect">
            <a:avLst/>
          </a:prstGeom>
          <a:noFill/>
        </p:spPr>
        <p:txBody>
          <a:bodyPr wrap="square">
            <a:spAutoFit/>
          </a:bodyPr>
          <a:lstStyle/>
          <a:p>
            <a:pPr algn="ctr"/>
            <a:r>
              <a:rPr sz="7200" b="1" i="0">
                <a:solidFill>
                  <a:srgbClr val="FFFFFF"/>
                </a:solidFill>
                <a:latin typeface="Calibri"/>
              </a:rPr>
              <a:t>AI Workshop</a:t>
            </a:r>
          </a:p>
        </p:txBody>
      </p:sp>
      <p:sp>
        <p:nvSpPr>
          <p:cNvPr id="3" name="TextBox 2"/>
          <p:cNvSpPr txBox="1"/>
          <p:nvPr/>
        </p:nvSpPr>
        <p:spPr>
          <a:xfrm>
            <a:off x="822960" y="2971800"/>
            <a:ext cx="10515600" cy="822960"/>
          </a:xfrm>
          <a:prstGeom prst="rect">
            <a:avLst/>
          </a:prstGeom>
          <a:noFill/>
        </p:spPr>
        <p:txBody>
          <a:bodyPr wrap="square">
            <a:spAutoFit/>
          </a:bodyPr>
          <a:lstStyle/>
          <a:p>
            <a:pPr algn="ctr"/>
            <a:r>
              <a:rPr sz="3400" b="0" i="0">
                <a:solidFill>
                  <a:srgbClr val="C9913A"/>
                </a:solidFill>
                <a:latin typeface="Calibri"/>
              </a:rPr>
              <a:t>The Foundation</a:t>
            </a:r>
          </a:p>
        </p:txBody>
      </p:sp>
      <p:sp>
        <p:nvSpPr>
          <p:cNvPr id="4" name="TextBox 3"/>
          <p:cNvSpPr txBox="1"/>
          <p:nvPr/>
        </p:nvSpPr>
        <p:spPr>
          <a:xfrm>
            <a:off x="822960" y="6035040"/>
            <a:ext cx="10515600" cy="457200"/>
          </a:xfrm>
          <a:prstGeom prst="rect">
            <a:avLst/>
          </a:prstGeom>
          <a:noFill/>
        </p:spPr>
        <p:txBody>
          <a:bodyPr wrap="square">
            <a:spAutoFit/>
          </a:bodyPr>
          <a:lstStyle/>
          <a:p>
            <a:pPr algn="ctr"/>
            <a:r>
              <a:rPr sz="1400" b="0" i="0">
                <a:solidFill>
                  <a:srgbClr val="AABBCC"/>
                </a:solidFill>
                <a:latin typeface="Calibri"/>
              </a:rPr>
              <a:t>BPN Solutions  ·  April 16, 2026  ·  The Mill, Room 108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sp>
        <p:nvSpPr>
          <p:cNvPr id="2" name="TextBox 1"/>
          <p:cNvSpPr txBox="1"/>
          <p:nvPr/>
        </p:nvSpPr>
        <p:spPr>
          <a:xfrm>
            <a:off x="548640" y="384048"/>
            <a:ext cx="11064240" cy="749808"/>
          </a:xfrm>
          <a:prstGeom prst="rect">
            <a:avLst/>
          </a:prstGeom>
          <a:noFill/>
        </p:spPr>
        <p:txBody>
          <a:bodyPr wrap="square">
            <a:spAutoFit/>
          </a:bodyPr>
          <a:lstStyle/>
          <a:p>
            <a:pPr algn="l"/>
            <a:r>
              <a:rPr sz="3300" b="1" i="0">
                <a:solidFill>
                  <a:srgbClr val="0D2B4E"/>
                </a:solidFill>
                <a:latin typeface="Calibri"/>
              </a:rPr>
              <a:t>We did the homework.</a:t>
            </a:r>
          </a:p>
        </p:txBody>
      </p:sp>
      <p:sp>
        <p:nvSpPr>
          <p:cNvPr id="3" name="Rectangle 2"/>
          <p:cNvSpPr/>
          <p:nvPr/>
        </p:nvSpPr>
        <p:spPr>
          <a:xfrm>
            <a:off x="548640" y="1115568"/>
            <a:ext cx="365760" cy="50292"/>
          </a:xfrm>
          <a:prstGeom prst="rect">
            <a:avLst/>
          </a:prstGeom>
          <a:solidFill>
            <a:srgbClr val="C9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64240" cy="5029200"/>
          </a:xfrm>
          <a:prstGeom prst="rect">
            <a:avLst/>
          </a:prstGeom>
          <a:noFill/>
        </p:spPr>
        <p:txBody>
          <a:bodyPr wrap="square">
            <a:spAutoFit/>
          </a:bodyPr>
          <a:lstStyle/>
          <a:p>
            <a:pPr>
              <a:spcBef>
                <a:spcPts val="0"/>
              </a:spcBef>
            </a:pPr>
            <a:r>
              <a:rPr sz="1900" b="0" i="0">
                <a:solidFill>
                  <a:srgbClr val="0D2B4E"/>
                </a:solidFill>
                <a:latin typeface="Calibri"/>
              </a:rPr>
              <a:t>All three of you named email as your biggest time sink. Two named scheduling.</a:t>
            </a:r>
          </a:p>
          <a:p>
            <a:pPr>
              <a:spcBef>
                <a:spcPts val="600"/>
              </a:spcBef>
            </a:pPr>
            <a:r>
              <a:rPr sz="1900" b="0" i="0">
                <a:solidFill>
                  <a:srgbClr val="6B7280"/>
                </a:solidFill>
                <a:latin typeface="Calibri"/>
              </a:rPr>
              <a:t>Olivia -- 15 to 20 hours a week on diligence. Her exact words: "Could include more depth if I had the time."</a:t>
            </a:r>
          </a:p>
          <a:p>
            <a:pPr>
              <a:spcBef>
                <a:spcPts val="600"/>
              </a:spcBef>
            </a:pPr>
            <a:r>
              <a:rPr sz="1900" b="0" i="0">
                <a:solidFill>
                  <a:srgbClr val="6B7280"/>
                </a:solidFill>
                <a:latin typeface="Calibri"/>
              </a:rPr>
              <a:t>Tony -- deal analysis and LP updates taking time that should go to judgment.</a:t>
            </a:r>
          </a:p>
          <a:p>
            <a:pPr>
              <a:spcBef>
                <a:spcPts val="600"/>
              </a:spcBef>
            </a:pPr>
            <a:r>
              <a:rPr sz="1900" b="0" i="0">
                <a:solidFill>
                  <a:srgbClr val="6B7280"/>
                </a:solidFill>
                <a:latin typeface="Calibri"/>
              </a:rPr>
              <a:t>Jon -- alumni intro emails typed manually, one at a time. Newsletter never gets done.</a:t>
            </a:r>
          </a:p>
          <a:p>
            <a:pPr>
              <a:spcBef>
                <a:spcPts val="200"/>
              </a:spcBef>
            </a:pPr>
            <a:r>
              <a:rPr sz="800" b="0" i="0">
                <a:solidFill>
                  <a:srgbClr val="0D2B4E"/>
                </a:solidFill>
                <a:latin typeface="Calibri"/>
              </a:rPr>
              <a:t/>
            </a:r>
          </a:p>
          <a:p>
            <a:pPr>
              <a:spcBef>
                <a:spcPts val="600"/>
              </a:spcBef>
            </a:pPr>
            <a:r>
              <a:rPr sz="2200" b="1" i="0">
                <a:solidFill>
                  <a:srgbClr val="0D2B4E"/>
                </a:solidFill>
                <a:latin typeface="Calibri"/>
              </a:rPr>
              <a:t>These are not separate problems. They are the same problem.</a:t>
            </a:r>
          </a:p>
          <a:p>
            <a:pPr>
              <a:spcBef>
                <a:spcPts val="600"/>
              </a:spcBef>
            </a:pPr>
            <a:r>
              <a:rPr sz="1900" b="0" i="0">
                <a:solidFill>
                  <a:srgbClr val="6B7280"/>
                </a:solidFill>
                <a:latin typeface="Calibri"/>
              </a:rPr>
              <a:t>Good work getting slowed down by the volume of routine around it. Every hour reclaimed from routine is an hour back for the work only you can do. That is what we are building today.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sp>
        <p:nvSpPr>
          <p:cNvPr id="2" name="TextBox 1"/>
          <p:cNvSpPr txBox="1"/>
          <p:nvPr/>
        </p:nvSpPr>
        <p:spPr>
          <a:xfrm>
            <a:off x="548640" y="384048"/>
            <a:ext cx="11064240" cy="749808"/>
          </a:xfrm>
          <a:prstGeom prst="rect">
            <a:avLst/>
          </a:prstGeom>
          <a:noFill/>
        </p:spPr>
        <p:txBody>
          <a:bodyPr wrap="square">
            <a:spAutoFit/>
          </a:bodyPr>
          <a:lstStyle/>
          <a:p>
            <a:pPr algn="l"/>
            <a:r>
              <a:rPr sz="3300" b="1" i="0">
                <a:solidFill>
                  <a:srgbClr val="0D2B4E"/>
                </a:solidFill>
                <a:latin typeface="Calibri"/>
              </a:rPr>
              <a:t>What AI Actually Is</a:t>
            </a:r>
          </a:p>
        </p:txBody>
      </p:sp>
      <p:sp>
        <p:nvSpPr>
          <p:cNvPr id="3" name="Rectangle 2"/>
          <p:cNvSpPr/>
          <p:nvPr/>
        </p:nvSpPr>
        <p:spPr>
          <a:xfrm>
            <a:off x="548640" y="1115568"/>
            <a:ext cx="365760" cy="50292"/>
          </a:xfrm>
          <a:prstGeom prst="rect">
            <a:avLst/>
          </a:prstGeom>
          <a:solidFill>
            <a:srgbClr val="C9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64240" cy="5029200"/>
          </a:xfrm>
          <a:prstGeom prst="rect">
            <a:avLst/>
          </a:prstGeom>
          <a:noFill/>
        </p:spPr>
        <p:txBody>
          <a:bodyPr wrap="square">
            <a:spAutoFit/>
          </a:bodyPr>
          <a:lstStyle/>
          <a:p>
            <a:pPr>
              <a:spcBef>
                <a:spcPts val="0"/>
              </a:spcBef>
            </a:pPr>
            <a:r>
              <a:rPr sz="2000" b="1" i="0">
                <a:solidFill>
                  <a:srgbClr val="0D2B4E"/>
                </a:solidFill>
                <a:latin typeface="Calibri"/>
              </a:rPr>
              <a:t>Not magic. Not a search engine. Not a robot that thinks like a human.</a:t>
            </a:r>
          </a:p>
          <a:p>
            <a:pPr>
              <a:spcBef>
                <a:spcPts val="600"/>
              </a:spcBef>
            </a:pPr>
            <a:r>
              <a:rPr sz="1900" b="0" i="0">
                <a:solidFill>
                  <a:srgbClr val="6B7280"/>
                </a:solidFill>
                <a:latin typeface="Calibri"/>
              </a:rPr>
              <a:t>AI was trained on an enormous volume of human-generated text -- books, research, articles, conversations, code, documentation. That training gives it the ability to recognize patterns and generate responses relevant to whatever you give it in the moment.</a:t>
            </a:r>
          </a:p>
          <a:p>
            <a:pPr>
              <a:spcBef>
                <a:spcPts val="600"/>
              </a:spcBef>
            </a:pPr>
            <a:r>
              <a:rPr sz="1900" b="0" i="0">
                <a:solidFill>
                  <a:srgbClr val="6B7280"/>
                </a:solidFill>
                <a:latin typeface="Calibri"/>
              </a:rPr>
              <a:t>When you type something into Claude, it is not looking up an answer. It is generating one -- shaped by everything it learned during training plus the context you give it right now.</a:t>
            </a:r>
          </a:p>
          <a:p>
            <a:pPr>
              <a:spcBef>
                <a:spcPts val="200"/>
              </a:spcBef>
            </a:pPr>
            <a:r>
              <a:rPr sz="800" b="0" i="0">
                <a:solidFill>
                  <a:srgbClr val="0D2B4E"/>
                </a:solidFill>
                <a:latin typeface="Calibri"/>
              </a:rPr>
              <a:t/>
            </a:r>
          </a:p>
          <a:p>
            <a:pPr>
              <a:spcBef>
                <a:spcPts val="600"/>
              </a:spcBef>
            </a:pPr>
            <a:r>
              <a:rPr sz="1900" b="1" i="0">
                <a:solidFill>
                  <a:srgbClr val="0D2B4E"/>
                </a:solidFill>
                <a:latin typeface="Calibri"/>
              </a:rPr>
              <a:t>The critical fact:</a:t>
            </a:r>
          </a:p>
          <a:p>
            <a:pPr>
              <a:spcBef>
                <a:spcPts val="600"/>
              </a:spcBef>
            </a:pPr>
            <a:r>
              <a:rPr sz="1900" b="0" i="0">
                <a:solidFill>
                  <a:srgbClr val="0D2B4E"/>
                </a:solidFill>
                <a:latin typeface="Calibri"/>
              </a:rPr>
              <a:t>It does not know who you are, what you do, or what you care about unless you tell it. The goal of what we are building today is a system where Claude already knows your context before you type a single word.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sp>
        <p:nvSpPr>
          <p:cNvPr id="2" name="TextBox 1"/>
          <p:cNvSpPr txBox="1"/>
          <p:nvPr/>
        </p:nvSpPr>
        <p:spPr>
          <a:xfrm>
            <a:off x="548640" y="384048"/>
            <a:ext cx="11064240" cy="749808"/>
          </a:xfrm>
          <a:prstGeom prst="rect">
            <a:avLst/>
          </a:prstGeom>
          <a:noFill/>
        </p:spPr>
        <p:txBody>
          <a:bodyPr wrap="square">
            <a:spAutoFit/>
          </a:bodyPr>
          <a:lstStyle/>
          <a:p>
            <a:pPr algn="l"/>
            <a:r>
              <a:rPr sz="3300" b="1" i="0">
                <a:solidFill>
                  <a:srgbClr val="0D2B4E"/>
                </a:solidFill>
                <a:latin typeface="Calibri"/>
              </a:rPr>
              <a:t>Think of the most capable person you have ever hired.</a:t>
            </a:r>
          </a:p>
        </p:txBody>
      </p:sp>
      <p:sp>
        <p:nvSpPr>
          <p:cNvPr id="3" name="Rectangle 2"/>
          <p:cNvSpPr/>
          <p:nvPr/>
        </p:nvSpPr>
        <p:spPr>
          <a:xfrm>
            <a:off x="548640" y="1115568"/>
            <a:ext cx="365760" cy="50292"/>
          </a:xfrm>
          <a:prstGeom prst="rect">
            <a:avLst/>
          </a:prstGeom>
          <a:solidFill>
            <a:srgbClr val="C9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64240" cy="5029200"/>
          </a:xfrm>
          <a:prstGeom prst="rect">
            <a:avLst/>
          </a:prstGeom>
          <a:noFill/>
        </p:spPr>
        <p:txBody>
          <a:bodyPr wrap="square">
            <a:spAutoFit/>
          </a:bodyPr>
          <a:lstStyle/>
          <a:p>
            <a:pPr>
              <a:spcBef>
                <a:spcPts val="0"/>
              </a:spcBef>
            </a:pPr>
            <a:r>
              <a:rPr sz="2000" b="1" i="0">
                <a:solidFill>
                  <a:srgbClr val="0D2B4E"/>
                </a:solidFill>
                <a:latin typeface="Calibri"/>
              </a:rPr>
              <a:t>Brilliant. Fast. No ego. No bad habits. Available at any hour.</a:t>
            </a:r>
          </a:p>
          <a:p>
            <a:pPr>
              <a:spcBef>
                <a:spcPts val="600"/>
              </a:spcBef>
            </a:pPr>
            <a:r>
              <a:rPr sz="1900" b="0" i="0">
                <a:solidFill>
                  <a:srgbClr val="6B7280"/>
                </a:solidFill>
                <a:latin typeface="Calibri"/>
              </a:rPr>
              <a:t>But on day one, they know nothing about your organization, your standards, your relationships, or your history. The quality of their work in week one depends almost entirely on how well you brief them.</a:t>
            </a:r>
          </a:p>
          <a:p>
            <a:pPr>
              <a:spcBef>
                <a:spcPts val="600"/>
              </a:spcBef>
            </a:pPr>
            <a:r>
              <a:rPr sz="2000" b="1" i="0">
                <a:solidFill>
                  <a:srgbClr val="0D2B4E"/>
                </a:solidFill>
                <a:latin typeface="Calibri"/>
              </a:rPr>
              <a:t>That is Claude.</a:t>
            </a:r>
          </a:p>
          <a:p>
            <a:pPr>
              <a:spcBef>
                <a:spcPts val="200"/>
              </a:spcBef>
            </a:pPr>
            <a:r>
              <a:rPr sz="800" b="0" i="0">
                <a:solidFill>
                  <a:srgbClr val="0D2B4E"/>
                </a:solidFill>
                <a:latin typeface="Calibri"/>
              </a:rPr>
              <a:t/>
            </a:r>
          </a:p>
          <a:p>
            <a:pPr>
              <a:spcBef>
                <a:spcPts val="600"/>
              </a:spcBef>
            </a:pPr>
            <a:r>
              <a:rPr sz="1900" b="0" i="0">
                <a:solidFill>
                  <a:srgbClr val="C9913A"/>
                </a:solidFill>
                <a:latin typeface="Calibri"/>
              </a:rPr>
              <a:t>The people getting extraordinary results from AI are not the ones who figured out better ways to ask questions. They are the ones who built better systems for briefing it -- once -- so they never have to brief it again.</a:t>
            </a:r>
          </a:p>
          <a:p>
            <a:pPr>
              <a:spcBef>
                <a:spcPts val="600"/>
              </a:spcBef>
            </a:pPr>
            <a:r>
              <a:rPr sz="1900" b="0" i="0">
                <a:solidFill>
                  <a:srgbClr val="6B7280"/>
                </a:solidFill>
                <a:latin typeface="Calibri"/>
              </a:rPr>
              <a:t>The question for today: what does a complete briefing system look like for your specific job? By the end of this session, Phil will have built it with you.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sp>
        <p:nvSpPr>
          <p:cNvPr id="2" name="TextBox 1"/>
          <p:cNvSpPr txBox="1"/>
          <p:nvPr/>
        </p:nvSpPr>
        <p:spPr>
          <a:xfrm>
            <a:off x="548640" y="384048"/>
            <a:ext cx="11064240" cy="749808"/>
          </a:xfrm>
          <a:prstGeom prst="rect">
            <a:avLst/>
          </a:prstGeom>
          <a:noFill/>
        </p:spPr>
        <p:txBody>
          <a:bodyPr wrap="square">
            <a:spAutoFit/>
          </a:bodyPr>
          <a:lstStyle/>
          <a:p>
            <a:pPr algn="l"/>
            <a:r>
              <a:rPr sz="3300" b="1" i="0">
                <a:solidFill>
                  <a:srgbClr val="0D2B4E"/>
                </a:solidFill>
                <a:latin typeface="Calibri"/>
              </a:rPr>
              <a:t>How People Are Actually Learning This</a:t>
            </a:r>
          </a:p>
        </p:txBody>
      </p:sp>
      <p:sp>
        <p:nvSpPr>
          <p:cNvPr id="3" name="Rectangle 2"/>
          <p:cNvSpPr/>
          <p:nvPr/>
        </p:nvSpPr>
        <p:spPr>
          <a:xfrm>
            <a:off x="548640" y="1115568"/>
            <a:ext cx="365760" cy="50292"/>
          </a:xfrm>
          <a:prstGeom prst="rect">
            <a:avLst/>
          </a:prstGeom>
          <a:solidFill>
            <a:srgbClr val="C9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64240" cy="5029200"/>
          </a:xfrm>
          <a:prstGeom prst="rect">
            <a:avLst/>
          </a:prstGeom>
          <a:noFill/>
        </p:spPr>
        <p:txBody>
          <a:bodyPr wrap="square">
            <a:spAutoFit/>
          </a:bodyPr>
          <a:lstStyle/>
          <a:p>
            <a:pPr>
              <a:spcBef>
                <a:spcPts val="0"/>
              </a:spcBef>
            </a:pPr>
            <a:r>
              <a:rPr sz="1900" b="1" i="0">
                <a:solidFill>
                  <a:srgbClr val="0D2B4E"/>
                </a:solidFill>
                <a:latin typeface="Calibri"/>
              </a:rPr>
              <a:t>The old model: take a course, read the manual, then use the tool. That does not work for AI.</a:t>
            </a:r>
          </a:p>
          <a:p>
            <a:pPr>
              <a:spcBef>
                <a:spcPts val="600"/>
              </a:spcBef>
            </a:pPr>
            <a:r>
              <a:rPr sz="1900" b="0" i="0">
                <a:solidFill>
                  <a:srgbClr val="6B7280"/>
                </a:solidFill>
                <a:latin typeface="Calibri"/>
              </a:rPr>
              <a:t>A course on prompting will not teach you how to make Claude useful for evaluating a seed-stage founder at IU Angel Network. A manual will not teach you how to draft alumni introductions that sound like Jon Barada.</a:t>
            </a:r>
          </a:p>
          <a:p>
            <a:pPr>
              <a:spcBef>
                <a:spcPts val="600"/>
              </a:spcBef>
            </a:pPr>
            <a:r>
              <a:rPr sz="1900" b="0" i="0">
                <a:solidFill>
                  <a:srgbClr val="6B7280"/>
                </a:solidFill>
                <a:latin typeface="Calibri"/>
              </a:rPr>
              <a:t>The only way to learn what AI can do for your specific work is to work with it on your specific work.</a:t>
            </a:r>
          </a:p>
          <a:p>
            <a:pPr>
              <a:spcBef>
                <a:spcPts val="200"/>
              </a:spcBef>
            </a:pPr>
            <a:r>
              <a:rPr sz="800" b="0" i="0">
                <a:solidFill>
                  <a:srgbClr val="0D2B4E"/>
                </a:solidFill>
                <a:latin typeface="Calibri"/>
              </a:rPr>
              <a:t/>
            </a:r>
          </a:p>
          <a:p>
            <a:pPr>
              <a:spcBef>
                <a:spcPts val="600"/>
              </a:spcBef>
            </a:pPr>
            <a:r>
              <a:rPr sz="2000" b="1" i="0">
                <a:solidFill>
                  <a:srgbClr val="0D2B4E"/>
                </a:solidFill>
                <a:latin typeface="Calibri"/>
              </a:rPr>
              <a:t>The shift that matters most:</a:t>
            </a:r>
          </a:p>
          <a:p>
            <a:pPr>
              <a:spcBef>
                <a:spcPts val="600"/>
              </a:spcBef>
            </a:pPr>
            <a:r>
              <a:rPr sz="1900" b="0" i="0">
                <a:solidFill>
                  <a:srgbClr val="0D2B4E"/>
                </a:solidFill>
                <a:latin typeface="Calibri"/>
              </a:rPr>
              <a:t>Before you start any significant task, ask Claude how to approach it. Not "do this for me." Ask: "Here is what I am trying to do and here is what I have. What is the best way in? What do people usually miss?"</a:t>
            </a:r>
          </a:p>
          <a:p>
            <a:pPr>
              <a:spcBef>
                <a:spcPts val="600"/>
              </a:spcBef>
            </a:pPr>
            <a:r>
              <a:rPr sz="1900" b="0" i="0">
                <a:solidFill>
                  <a:srgbClr val="C9913A"/>
                </a:solidFill>
                <a:latin typeface="Calibri"/>
              </a:rPr>
              <a:t>This single behavior separates people who get mediocre results from people who get results that make their colleagues wonder how they did it so fast.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sp>
        <p:nvSpPr>
          <p:cNvPr id="2" name="TextBox 1"/>
          <p:cNvSpPr txBox="1"/>
          <p:nvPr/>
        </p:nvSpPr>
        <p:spPr>
          <a:xfrm>
            <a:off x="548640" y="384048"/>
            <a:ext cx="11064240" cy="749808"/>
          </a:xfrm>
          <a:prstGeom prst="rect">
            <a:avLst/>
          </a:prstGeom>
          <a:noFill/>
        </p:spPr>
        <p:txBody>
          <a:bodyPr wrap="square">
            <a:spAutoFit/>
          </a:bodyPr>
          <a:lstStyle/>
          <a:p>
            <a:pPr algn="l"/>
            <a:r>
              <a:rPr sz="3300" b="1" i="0">
                <a:solidFill>
                  <a:srgbClr val="0D2B4E"/>
                </a:solidFill>
                <a:latin typeface="Calibri"/>
              </a:rPr>
              <a:t>What this looks like for each of you.</a:t>
            </a:r>
          </a:p>
        </p:txBody>
      </p:sp>
      <p:sp>
        <p:nvSpPr>
          <p:cNvPr id="3" name="Rectangle 2"/>
          <p:cNvSpPr/>
          <p:nvPr/>
        </p:nvSpPr>
        <p:spPr>
          <a:xfrm>
            <a:off x="548640" y="1115568"/>
            <a:ext cx="365760" cy="50292"/>
          </a:xfrm>
          <a:prstGeom prst="rect">
            <a:avLst/>
          </a:prstGeom>
          <a:solidFill>
            <a:srgbClr val="C9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2286000" cy="502920"/>
          </a:xfrm>
          <a:prstGeom prst="rect">
            <a:avLst/>
          </a:prstGeom>
          <a:noFill/>
        </p:spPr>
        <p:txBody>
          <a:bodyPr wrap="square">
            <a:spAutoFit/>
          </a:bodyPr>
          <a:lstStyle/>
          <a:p>
            <a:pPr algn="l"/>
            <a:r>
              <a:rPr sz="2200" b="1" i="0">
                <a:solidFill>
                  <a:srgbClr val="C9913A"/>
                </a:solidFill>
                <a:latin typeface="Calibri"/>
              </a:rPr>
              <a:t>Tony.</a:t>
            </a:r>
          </a:p>
        </p:txBody>
      </p:sp>
      <p:sp>
        <p:nvSpPr>
          <p:cNvPr id="5" name="TextBox 4"/>
          <p:cNvSpPr txBox="1"/>
          <p:nvPr/>
        </p:nvSpPr>
        <p:spPr>
          <a:xfrm>
            <a:off x="548640" y="1920240"/>
            <a:ext cx="11064240" cy="1828800"/>
          </a:xfrm>
          <a:prstGeom prst="rect">
            <a:avLst/>
          </a:prstGeom>
          <a:noFill/>
        </p:spPr>
        <p:txBody>
          <a:bodyPr wrap="square">
            <a:spAutoFit/>
          </a:bodyPr>
          <a:lstStyle/>
          <a:p>
            <a:pPr>
              <a:spcBef>
                <a:spcPts val="0"/>
              </a:spcBef>
            </a:pPr>
            <a:r>
              <a:rPr sz="1800" b="0" i="0">
                <a:solidFill>
                  <a:srgbClr val="0D2B4E"/>
                </a:solidFill>
                <a:latin typeface="Calibri"/>
              </a:rPr>
              <a:t>A dozen emails needing real responses. Four-plus calls. Deal analyses. LP updates every week.</a:t>
            </a:r>
          </a:p>
          <a:p>
            <a:pPr>
              <a:spcBef>
                <a:spcPts val="600"/>
              </a:spcBef>
            </a:pPr>
            <a:r>
              <a:rPr sz="1800" b="0" i="0">
                <a:solidFill>
                  <a:srgbClr val="6B7280"/>
                </a:solidFill>
                <a:latin typeface="Calibri"/>
              </a:rPr>
              <a:t>The question is not whether AI can write those emails. It is whether it can read the incoming ones, identify the 20% that actually need your judgment, and draft a first pass on the rest that sounds like IU Ventures.</a:t>
            </a:r>
          </a:p>
          <a:p>
            <a:pPr>
              <a:spcBef>
                <a:spcPts val="600"/>
              </a:spcBef>
            </a:pPr>
            <a:r>
              <a:rPr sz="1800" b="0" i="0">
                <a:solidFill>
                  <a:srgbClr val="6B7280"/>
                </a:solidFill>
                <a:latin typeface="Calibri"/>
              </a:rPr>
              <a:t>For that to work, Claude needs to understand who you are before it touches a message. It needs to know the difference between an LP relationship and a first-time founder cold pitch.</a:t>
            </a:r>
          </a:p>
        </p:txBody>
      </p:sp>
      <p:sp>
        <p:nvSpPr>
          <p:cNvPr id="6" name="Rectangle 5"/>
          <p:cNvSpPr/>
          <p:nvPr/>
        </p:nvSpPr>
        <p:spPr>
          <a:xfrm>
            <a:off x="548640" y="3794760"/>
            <a:ext cx="11064240" cy="2743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886200"/>
            <a:ext cx="2286000" cy="502920"/>
          </a:xfrm>
          <a:prstGeom prst="rect">
            <a:avLst/>
          </a:prstGeom>
          <a:noFill/>
        </p:spPr>
        <p:txBody>
          <a:bodyPr wrap="square">
            <a:spAutoFit/>
          </a:bodyPr>
          <a:lstStyle/>
          <a:p>
            <a:pPr algn="l"/>
            <a:r>
              <a:rPr sz="2200" b="1" i="0">
                <a:solidFill>
                  <a:srgbClr val="C9913A"/>
                </a:solidFill>
                <a:latin typeface="Calibri"/>
              </a:rPr>
              <a:t>Jon.</a:t>
            </a:r>
          </a:p>
        </p:txBody>
      </p:sp>
      <p:sp>
        <p:nvSpPr>
          <p:cNvPr id="8" name="TextBox 7"/>
          <p:cNvSpPr txBox="1"/>
          <p:nvPr/>
        </p:nvSpPr>
        <p:spPr>
          <a:xfrm>
            <a:off x="548640" y="4389120"/>
            <a:ext cx="11064240" cy="1371600"/>
          </a:xfrm>
          <a:prstGeom prst="rect">
            <a:avLst/>
          </a:prstGeom>
          <a:noFill/>
        </p:spPr>
        <p:txBody>
          <a:bodyPr wrap="square">
            <a:spAutoFit/>
          </a:bodyPr>
          <a:lstStyle/>
          <a:p>
            <a:pPr>
              <a:spcBef>
                <a:spcPts val="0"/>
              </a:spcBef>
            </a:pPr>
            <a:r>
              <a:rPr sz="1800" b="0" i="0">
                <a:solidFill>
                  <a:srgbClr val="0D2B4E"/>
                </a:solidFill>
                <a:latin typeface="Calibri"/>
              </a:rPr>
              <a:t>Alumni intro emails written manually, one at a time. The newsletter that never gets done. Scheduling back-and-forth that takes more time than the meeting.</a:t>
            </a:r>
          </a:p>
          <a:p>
            <a:pPr>
              <a:spcBef>
                <a:spcPts val="600"/>
              </a:spcBef>
            </a:pPr>
            <a:r>
              <a:rPr sz="1800" b="0" i="0">
                <a:solidFill>
                  <a:srgbClr val="6B7280"/>
                </a:solidFill>
                <a:latin typeface="Calibri"/>
              </a:rPr>
              <a:t>What changes: you type one line. Claude reads both alumni files, finds the specific connection angle, writes the intro in your voice. 15 minutes becomes 90 seconds.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sp>
        <p:nvSpPr>
          <p:cNvPr id="2" name="TextBox 1"/>
          <p:cNvSpPr txBox="1"/>
          <p:nvPr/>
        </p:nvSpPr>
        <p:spPr>
          <a:xfrm>
            <a:off x="548640" y="384048"/>
            <a:ext cx="11064240" cy="749808"/>
          </a:xfrm>
          <a:prstGeom prst="rect">
            <a:avLst/>
          </a:prstGeom>
          <a:noFill/>
        </p:spPr>
        <p:txBody>
          <a:bodyPr wrap="square">
            <a:spAutoFit/>
          </a:bodyPr>
          <a:lstStyle/>
          <a:p>
            <a:pPr algn="l"/>
            <a:r>
              <a:rPr sz="3300" b="1" i="0">
                <a:solidFill>
                  <a:srgbClr val="0D2B4E"/>
                </a:solidFill>
                <a:latin typeface="Calibri"/>
              </a:rPr>
              <a:t>Olivia -- asking Claude how to approach it before you start.</a:t>
            </a:r>
          </a:p>
        </p:txBody>
      </p:sp>
      <p:sp>
        <p:nvSpPr>
          <p:cNvPr id="3" name="Rectangle 2"/>
          <p:cNvSpPr/>
          <p:nvPr/>
        </p:nvSpPr>
        <p:spPr>
          <a:xfrm>
            <a:off x="548640" y="1115568"/>
            <a:ext cx="365760" cy="50292"/>
          </a:xfrm>
          <a:prstGeom prst="rect">
            <a:avLst/>
          </a:prstGeom>
          <a:solidFill>
            <a:srgbClr val="C9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64240" cy="457200"/>
          </a:xfrm>
          <a:prstGeom prst="rect">
            <a:avLst/>
          </a:prstGeom>
          <a:noFill/>
        </p:spPr>
        <p:txBody>
          <a:bodyPr wrap="square">
            <a:spAutoFit/>
          </a:bodyPr>
          <a:lstStyle/>
          <a:p>
            <a:pPr>
              <a:spcBef>
                <a:spcPts val="0"/>
              </a:spcBef>
            </a:pPr>
            <a:r>
              <a:rPr sz="1900" b="0" i="0">
                <a:solidFill>
                  <a:srgbClr val="0D2B4E"/>
                </a:solidFill>
                <a:latin typeface="Calibri"/>
              </a:rPr>
              <a:t>You spend 15 to 20 hours a week on diligence. Here is what the prompt looks like before you write anything:</a:t>
            </a:r>
          </a:p>
        </p:txBody>
      </p:sp>
      <p:sp>
        <p:nvSpPr>
          <p:cNvPr id="5" name="TextBox 4"/>
          <p:cNvSpPr txBox="1"/>
          <p:nvPr/>
        </p:nvSpPr>
        <p:spPr>
          <a:xfrm>
            <a:off x="548640" y="1920240"/>
            <a:ext cx="11064240" cy="1371600"/>
          </a:xfrm>
          <a:prstGeom prst="rect">
            <a:avLst/>
          </a:prstGeom>
          <a:noFill/>
        </p:spPr>
        <p:txBody>
          <a:bodyPr wrap="square">
            <a:spAutoFit/>
          </a:bodyPr>
          <a:lstStyle/>
          <a:p>
            <a:pPr>
              <a:spcBef>
                <a:spcPts val="600"/>
              </a:spcBef>
            </a:pPr>
            <a:r>
              <a:rPr sz="1800" b="0" i="1">
                <a:solidFill>
                  <a:srgbClr val="88AACC"/>
                </a:solidFill>
                <a:latin typeface="Calibri"/>
              </a:rPr>
              <a:t>"I need to produce a 10-12 page diligence report on an early-stage college athletics software startup. I have their pitch deck, their website, and some press coverage. Before I start, what is the best approach to structuring this? What sections should I cover? What are the most common gaps analysts miss in this kind of company at this stage? And what external research should I prioritize first?"</a:t>
            </a:r>
          </a:p>
        </p:txBody>
      </p:sp>
      <p:sp>
        <p:nvSpPr>
          <p:cNvPr id="6" name="TextBox 5"/>
          <p:cNvSpPr txBox="1"/>
          <p:nvPr/>
        </p:nvSpPr>
        <p:spPr>
          <a:xfrm>
            <a:off x="548640" y="3429000"/>
            <a:ext cx="11064240" cy="2286000"/>
          </a:xfrm>
          <a:prstGeom prst="rect">
            <a:avLst/>
          </a:prstGeom>
          <a:noFill/>
        </p:spPr>
        <p:txBody>
          <a:bodyPr wrap="square">
            <a:spAutoFit/>
          </a:bodyPr>
          <a:lstStyle/>
          <a:p>
            <a:pPr>
              <a:spcBef>
                <a:spcPts val="0"/>
              </a:spcBef>
            </a:pPr>
            <a:r>
              <a:rPr sz="1900" b="0" i="0">
                <a:solidFill>
                  <a:srgbClr val="6B7280"/>
                </a:solidFill>
                <a:latin typeface="Calibri"/>
              </a:rPr>
              <a:t>Claude comes back with: a structured approach, a suggested order of operations, the questions most investors get wrong at this stage, and specific things to look for in the materials.</a:t>
            </a:r>
          </a:p>
          <a:p>
            <a:pPr>
              <a:spcBef>
                <a:spcPts val="600"/>
              </a:spcBef>
            </a:pPr>
            <a:r>
              <a:rPr sz="1900" b="1" i="0">
                <a:solidFill>
                  <a:srgbClr val="0D2B4E"/>
                </a:solidFill>
                <a:latin typeface="Calibri"/>
              </a:rPr>
              <a:t>You have not produced a single sentence of the report yet.</a:t>
            </a:r>
          </a:p>
          <a:p>
            <a:pPr>
              <a:spcBef>
                <a:spcPts val="600"/>
              </a:spcBef>
            </a:pPr>
            <a:r>
              <a:rPr sz="1900" b="0" i="0">
                <a:solidFill>
                  <a:srgbClr val="6B7280"/>
                </a:solidFill>
                <a:latin typeface="Calibri"/>
              </a:rPr>
              <a:t>You now have a better framework than the one you started with -- in under a minute. This is just-in-time learning applied to your actual job.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sp>
        <p:nvSpPr>
          <p:cNvPr id="2" name="TextBox 1"/>
          <p:cNvSpPr txBox="1"/>
          <p:nvPr/>
        </p:nvSpPr>
        <p:spPr>
          <a:xfrm>
            <a:off x="548640" y="384048"/>
            <a:ext cx="11064240" cy="749808"/>
          </a:xfrm>
          <a:prstGeom prst="rect">
            <a:avLst/>
          </a:prstGeom>
          <a:noFill/>
        </p:spPr>
        <p:txBody>
          <a:bodyPr wrap="square">
            <a:spAutoFit/>
          </a:bodyPr>
          <a:lstStyle/>
          <a:p>
            <a:pPr algn="l"/>
            <a:r>
              <a:rPr sz="3300" b="1" i="0">
                <a:solidFill>
                  <a:srgbClr val="0D2B4E"/>
                </a:solidFill>
                <a:latin typeface="Calibri"/>
              </a:rPr>
              <a:t>The posture: humble curiosity.</a:t>
            </a:r>
          </a:p>
        </p:txBody>
      </p:sp>
      <p:sp>
        <p:nvSpPr>
          <p:cNvPr id="3" name="Rectangle 2"/>
          <p:cNvSpPr/>
          <p:nvPr/>
        </p:nvSpPr>
        <p:spPr>
          <a:xfrm>
            <a:off x="548640" y="1115568"/>
            <a:ext cx="365760" cy="50292"/>
          </a:xfrm>
          <a:prstGeom prst="rect">
            <a:avLst/>
          </a:prstGeom>
          <a:solidFill>
            <a:srgbClr val="C9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64240" cy="5029200"/>
          </a:xfrm>
          <a:prstGeom prst="rect">
            <a:avLst/>
          </a:prstGeom>
          <a:noFill/>
        </p:spPr>
        <p:txBody>
          <a:bodyPr wrap="square">
            <a:spAutoFit/>
          </a:bodyPr>
          <a:lstStyle/>
          <a:p>
            <a:pPr>
              <a:spcBef>
                <a:spcPts val="0"/>
              </a:spcBef>
            </a:pPr>
            <a:r>
              <a:rPr sz="2000" b="0" i="0">
                <a:solidFill>
                  <a:srgbClr val="6B7280"/>
                </a:solidFill>
                <a:latin typeface="Calibri"/>
              </a:rPr>
              <a:t>Not "tell me the answer."  Not "do this for me."</a:t>
            </a:r>
          </a:p>
          <a:p>
            <a:pPr>
              <a:spcBef>
                <a:spcPts val="600"/>
              </a:spcBef>
            </a:pPr>
            <a:r>
              <a:rPr sz="2200" b="1" i="0">
                <a:solidFill>
                  <a:srgbClr val="C9913A"/>
                </a:solidFill>
                <a:latin typeface="Calibri"/>
              </a:rPr>
              <a:t>"Here is what I know. Here is what I have. What am I missing? What is the best way in?"</a:t>
            </a:r>
          </a:p>
          <a:p>
            <a:pPr>
              <a:spcBef>
                <a:spcPts val="600"/>
              </a:spcBef>
            </a:pPr>
            <a:r>
              <a:rPr sz="1900" b="0" i="0">
                <a:solidFill>
                  <a:srgbClr val="6B7280"/>
                </a:solidFill>
                <a:latin typeface="Calibri"/>
              </a:rPr>
              <a:t>The people getting the most out of AI in 2026 are not the most technically sophisticated. They are the most willing to ask before they assume.</a:t>
            </a:r>
          </a:p>
          <a:p>
            <a:pPr>
              <a:spcBef>
                <a:spcPts val="200"/>
              </a:spcBef>
            </a:pPr>
            <a:r>
              <a:rPr sz="600" b="0" i="0">
                <a:solidFill>
                  <a:srgbClr val="0D2B4E"/>
                </a:solidFill>
                <a:latin typeface="Calibri"/>
              </a:rPr>
              <a:t/>
            </a:r>
          </a:p>
          <a:p>
            <a:pPr>
              <a:spcBef>
                <a:spcPts val="600"/>
              </a:spcBef>
            </a:pPr>
            <a:r>
              <a:rPr sz="2000" b="1" i="0">
                <a:solidFill>
                  <a:srgbClr val="0D2B4E"/>
                </a:solidFill>
                <a:latin typeface="Calibri"/>
              </a:rPr>
              <a:t>Two strategies worth keeping:</a:t>
            </a:r>
          </a:p>
          <a:p>
            <a:pPr>
              <a:spcBef>
                <a:spcPts val="600"/>
              </a:spcBef>
            </a:pPr>
            <a:r>
              <a:rPr sz="1800" b="0" i="0">
                <a:solidFill>
                  <a:srgbClr val="0D2B4E"/>
                </a:solidFill>
                <a:latin typeface="Calibri"/>
              </a:rPr>
              <a:t>Plan before you act:  "Walk me through the full approach and the potential issues -- then wait for my input before you start." Claude surfaces things you had not thought of. You decide whether to proceed or adjust before any work is done.</a:t>
            </a:r>
          </a:p>
          <a:p>
            <a:pPr>
              <a:spcBef>
                <a:spcPts val="600"/>
              </a:spcBef>
            </a:pPr>
            <a:r>
              <a:rPr sz="1800" b="0" i="0">
                <a:solidFill>
                  <a:srgbClr val="0D2B4E"/>
                </a:solidFill>
                <a:latin typeface="Calibri"/>
              </a:rPr>
              <a:t>Ask for options:  "Give me three ways to approach this and the tradeoffs of each. I will pick one." Prevents anchoring on the first thing Claude suggests. 30 seconds of options usually beats the first path you would have taken.</a:t>
            </a:r>
          </a:p>
          <a:p>
            <a:pPr>
              <a:spcBef>
                <a:spcPts val="600"/>
              </a:spcBef>
            </a:pPr>
            <a:r>
              <a:rPr sz="1900" b="1" i="0">
                <a:solidFill>
                  <a:srgbClr val="C9913A"/>
                </a:solidFill>
                <a:latin typeface="Calibri"/>
              </a:rPr>
              <a:t>Both keep you as the decision-maker. Claude is the thinking partner.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sp>
        <p:nvSpPr>
          <p:cNvPr id="2" name="TextBox 1"/>
          <p:cNvSpPr txBox="1"/>
          <p:nvPr/>
        </p:nvSpPr>
        <p:spPr>
          <a:xfrm>
            <a:off x="548640" y="384048"/>
            <a:ext cx="11064240" cy="749808"/>
          </a:xfrm>
          <a:prstGeom prst="rect">
            <a:avLst/>
          </a:prstGeom>
          <a:noFill/>
        </p:spPr>
        <p:txBody>
          <a:bodyPr wrap="square">
            <a:spAutoFit/>
          </a:bodyPr>
          <a:lstStyle/>
          <a:p>
            <a:pPr algn="l"/>
            <a:r>
              <a:rPr sz="3300" b="1" i="0">
                <a:solidFill>
                  <a:srgbClr val="0D2B4E"/>
                </a:solidFill>
                <a:latin typeface="Calibri"/>
              </a:rPr>
              <a:t>How Context Works -- The Most Important Concept Today</a:t>
            </a:r>
          </a:p>
        </p:txBody>
      </p:sp>
      <p:sp>
        <p:nvSpPr>
          <p:cNvPr id="3" name="Rectangle 2"/>
          <p:cNvSpPr/>
          <p:nvPr/>
        </p:nvSpPr>
        <p:spPr>
          <a:xfrm>
            <a:off x="548640" y="1115568"/>
            <a:ext cx="365760" cy="50292"/>
          </a:xfrm>
          <a:prstGeom prst="rect">
            <a:avLst/>
          </a:prstGeom>
          <a:solidFill>
            <a:srgbClr val="C9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64240" cy="5029200"/>
          </a:xfrm>
          <a:prstGeom prst="rect">
            <a:avLst/>
          </a:prstGeom>
          <a:noFill/>
        </p:spPr>
        <p:txBody>
          <a:bodyPr wrap="square">
            <a:spAutoFit/>
          </a:bodyPr>
          <a:lstStyle/>
          <a:p>
            <a:pPr>
              <a:spcBef>
                <a:spcPts val="0"/>
              </a:spcBef>
            </a:pPr>
            <a:r>
              <a:rPr sz="1900" b="0" i="0">
                <a:solidFill>
                  <a:srgbClr val="0D2B4E"/>
                </a:solidFill>
                <a:latin typeface="Calibri"/>
              </a:rPr>
              <a:t>When most people first use AI, they write a long detailed prompt at the start of every session:</a:t>
            </a:r>
          </a:p>
          <a:p>
            <a:pPr>
              <a:spcBef>
                <a:spcPts val="600"/>
              </a:spcBef>
            </a:pPr>
            <a:r>
              <a:rPr sz="1800" b="0" i="1">
                <a:solidFill>
                  <a:srgbClr val="88AACC"/>
                </a:solidFill>
                <a:latin typeface="Calibri"/>
              </a:rPr>
              <a:t>"I am the Executive Director of a university angel investment network. I evaluate seed-stage companies for potential investment. I produce 10-12 page diligence reports. I need you to..."</a:t>
            </a:r>
          </a:p>
          <a:p>
            <a:pPr>
              <a:spcBef>
                <a:spcPts val="600"/>
              </a:spcBef>
            </a:pPr>
            <a:r>
              <a:rPr sz="1900" b="0" i="0">
                <a:solidFill>
                  <a:srgbClr val="6B7280"/>
                </a:solidFill>
                <a:latin typeface="Calibri"/>
              </a:rPr>
              <a:t>Every single time. Because Claude does not remember the last conversation. Every session starts from zero.</a:t>
            </a:r>
          </a:p>
          <a:p>
            <a:pPr>
              <a:spcBef>
                <a:spcPts val="600"/>
              </a:spcBef>
            </a:pPr>
            <a:r>
              <a:rPr sz="1900" b="1" i="0">
                <a:solidFill>
                  <a:srgbClr val="0D2B4E"/>
                </a:solidFill>
                <a:latin typeface="Calibri"/>
              </a:rPr>
              <a:t>That is the starting point. It is not where you end up.</a:t>
            </a:r>
          </a:p>
          <a:p>
            <a:pPr>
              <a:spcBef>
                <a:spcPts val="200"/>
              </a:spcBef>
            </a:pPr>
            <a:r>
              <a:rPr sz="600" b="0" i="0">
                <a:solidFill>
                  <a:srgbClr val="0D2B4E"/>
                </a:solidFill>
                <a:latin typeface="Calibri"/>
              </a:rPr>
              <a:t/>
            </a:r>
          </a:p>
          <a:p>
            <a:pPr>
              <a:spcBef>
                <a:spcPts val="600"/>
              </a:spcBef>
            </a:pPr>
            <a:r>
              <a:rPr sz="1900" b="0" i="0">
                <a:solidFill>
                  <a:srgbClr val="6B7280"/>
                </a:solidFill>
                <a:latin typeface="Calibri"/>
              </a:rPr>
              <a:t>There are three stages to how people work with AI. Most people stay at Stage 1. Today you are building Stage 2 -- and Stage 3 is where you are headed.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r>
              <a:rPr sz="1500" b="1" i="0">
                <a:solidFill>
                  <a:srgbClr val="C9913A"/>
                </a:solidFill>
                <a:latin typeface="Calibri"/>
              </a:rPr>
              <a:t>Stage 1</a:t>
            </a:r>
          </a:p>
        </p:txBody>
      </p:sp>
      <p:sp>
        <p:nvSpPr>
          <p:cNvPr id="3" name="TextBox 2"/>
          <p:cNvSpPr txBox="1"/>
          <p:nvPr/>
        </p:nvSpPr>
        <p:spPr>
          <a:xfrm>
            <a:off x="548640" y="384048"/>
            <a:ext cx="11064240" cy="749808"/>
          </a:xfrm>
          <a:prstGeom prst="rect">
            <a:avLst/>
          </a:prstGeom>
          <a:noFill/>
        </p:spPr>
        <p:txBody>
          <a:bodyPr wrap="square">
            <a:spAutoFit/>
          </a:bodyPr>
          <a:lstStyle/>
          <a:p>
            <a:pPr algn="l"/>
            <a:r>
              <a:rPr sz="3300" b="1" i="0">
                <a:solidFill>
                  <a:srgbClr val="0D2B4E"/>
                </a:solidFill>
                <a:latin typeface="Calibri"/>
              </a:rPr>
              <a:t>You explain yourself every time.</a:t>
            </a:r>
          </a:p>
        </p:txBody>
      </p:sp>
      <p:sp>
        <p:nvSpPr>
          <p:cNvPr id="4" name="Rectangle 3"/>
          <p:cNvSpPr/>
          <p:nvPr/>
        </p:nvSpPr>
        <p:spPr>
          <a:xfrm>
            <a:off x="548640" y="1115568"/>
            <a:ext cx="365760" cy="50292"/>
          </a:xfrm>
          <a:prstGeom prst="rect">
            <a:avLst/>
          </a:prstGeom>
          <a:solidFill>
            <a:srgbClr val="C9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64240" cy="5029200"/>
          </a:xfrm>
          <a:prstGeom prst="rect">
            <a:avLst/>
          </a:prstGeom>
          <a:noFill/>
        </p:spPr>
        <p:txBody>
          <a:bodyPr wrap="square">
            <a:spAutoFit/>
          </a:bodyPr>
          <a:lstStyle/>
          <a:p>
            <a:pPr>
              <a:spcBef>
                <a:spcPts val="0"/>
              </a:spcBef>
            </a:pPr>
            <a:r>
              <a:rPr sz="1900" b="0" i="0">
                <a:solidFill>
                  <a:srgbClr val="0D2B4E"/>
                </a:solidFill>
                <a:latin typeface="Calibri"/>
              </a:rPr>
              <a:t>You write structured prompts. You set context manually at the start of every conversation.</a:t>
            </a:r>
          </a:p>
          <a:p>
            <a:pPr>
              <a:spcBef>
                <a:spcPts val="600"/>
              </a:spcBef>
            </a:pPr>
            <a:r>
              <a:rPr sz="1900" b="0" i="0">
                <a:solidFill>
                  <a:srgbClr val="6B7280"/>
                </a:solidFill>
                <a:latin typeface="Calibri"/>
              </a:rPr>
              <a:t>This works. Stage 1 prompts done well produce genuinely good output -- significantly better than no AI. The outputs are real. The time savings are real.</a:t>
            </a:r>
          </a:p>
          <a:p>
            <a:pPr>
              <a:spcBef>
                <a:spcPts val="600"/>
              </a:spcBef>
            </a:pPr>
            <a:r>
              <a:rPr sz="1900" b="0" i="0">
                <a:solidFill>
                  <a:srgbClr val="6B7280"/>
                </a:solidFill>
                <a:latin typeface="Calibri"/>
              </a:rPr>
              <a:t>But it is slower than it needs to be. Every session you risk forgetting something important. The quality of output depends on how complete your prompt is -- and you are writing that prompt from scratch, every time.</a:t>
            </a:r>
          </a:p>
          <a:p>
            <a:pPr>
              <a:spcBef>
                <a:spcPts val="200"/>
              </a:spcBef>
            </a:pPr>
            <a:r>
              <a:rPr sz="600" b="0" i="0">
                <a:solidFill>
                  <a:srgbClr val="0D2B4E"/>
                </a:solidFill>
                <a:latin typeface="Calibri"/>
              </a:rPr>
              <a:t/>
            </a:r>
          </a:p>
          <a:p>
            <a:pPr>
              <a:spcBef>
                <a:spcPts val="600"/>
              </a:spcBef>
            </a:pPr>
            <a:r>
              <a:rPr sz="1800" b="1" i="0">
                <a:solidFill>
                  <a:srgbClr val="0D2B4E"/>
                </a:solidFill>
                <a:latin typeface="Calibri"/>
              </a:rPr>
              <a:t>Example of a Stage 1 prompt:</a:t>
            </a:r>
          </a:p>
          <a:p>
            <a:pPr>
              <a:spcBef>
                <a:spcPts val="600"/>
              </a:spcBef>
            </a:pPr>
            <a:r>
              <a:rPr sz="1700" b="0" i="1">
                <a:solidFill>
                  <a:srgbClr val="88AACC"/>
                </a:solidFill>
                <a:latin typeface="Calibri"/>
              </a:rPr>
              <a:t>"I am the Executive Director of the IU Angel Network, Indiana University's angel investment vehicle. I evaluate seed-stage companies and produce 10-12 page diligence reports focused on Indiana-affiliated founders. I need to..."</a:t>
            </a:r>
          </a:p>
          <a:p>
            <a:pPr>
              <a:spcBef>
                <a:spcPts val="600"/>
              </a:spcBef>
            </a:pPr>
            <a:r>
              <a:rPr sz="1900" b="1" i="0">
                <a:solidFill>
                  <a:srgbClr val="C9913A"/>
                </a:solidFill>
                <a:latin typeface="Calibri"/>
              </a:rPr>
              <a:t>Training wheels. A real phase. Not the destination.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r>
              <a:rPr sz="1500" b="1" i="0">
                <a:solidFill>
                  <a:srgbClr val="C9913A"/>
                </a:solidFill>
                <a:latin typeface="Calibri"/>
              </a:rPr>
              <a:t>Stage 2</a:t>
            </a:r>
          </a:p>
        </p:txBody>
      </p:sp>
      <p:sp>
        <p:nvSpPr>
          <p:cNvPr id="3" name="TextBox 2"/>
          <p:cNvSpPr txBox="1"/>
          <p:nvPr/>
        </p:nvSpPr>
        <p:spPr>
          <a:xfrm>
            <a:off x="548640" y="384048"/>
            <a:ext cx="11064240" cy="749808"/>
          </a:xfrm>
          <a:prstGeom prst="rect">
            <a:avLst/>
          </a:prstGeom>
          <a:noFill/>
        </p:spPr>
        <p:txBody>
          <a:bodyPr wrap="square">
            <a:spAutoFit/>
          </a:bodyPr>
          <a:lstStyle/>
          <a:p>
            <a:pPr algn="l"/>
            <a:r>
              <a:rPr sz="3300" b="1" i="0">
                <a:solidFill>
                  <a:srgbClr val="0D2B4E"/>
                </a:solidFill>
                <a:latin typeface="Calibri"/>
              </a:rPr>
              <a:t>The system already knows who you are.</a:t>
            </a:r>
          </a:p>
        </p:txBody>
      </p:sp>
      <p:sp>
        <p:nvSpPr>
          <p:cNvPr id="4" name="Rectangle 3"/>
          <p:cNvSpPr/>
          <p:nvPr/>
        </p:nvSpPr>
        <p:spPr>
          <a:xfrm>
            <a:off x="548640" y="1115568"/>
            <a:ext cx="365760" cy="50292"/>
          </a:xfrm>
          <a:prstGeom prst="rect">
            <a:avLst/>
          </a:prstGeom>
          <a:solidFill>
            <a:srgbClr val="C9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64240" cy="5029200"/>
          </a:xfrm>
          <a:prstGeom prst="rect">
            <a:avLst/>
          </a:prstGeom>
          <a:noFill/>
        </p:spPr>
        <p:txBody>
          <a:bodyPr wrap="square">
            <a:spAutoFit/>
          </a:bodyPr>
          <a:lstStyle/>
          <a:p>
            <a:pPr>
              <a:spcBef>
                <a:spcPts val="0"/>
              </a:spcBef>
            </a:pPr>
            <a:r>
              <a:rPr sz="1900" b="0" i="0">
                <a:solidFill>
                  <a:srgbClr val="0D2B4E"/>
                </a:solidFill>
                <a:latin typeface="Calibri"/>
              </a:rPr>
              <a:t>A master briefing file lives in your workspace and loads automatically every time you open Claude. Before you type anything, Claude already knows:</a:t>
            </a:r>
          </a:p>
          <a:p>
            <a:pPr>
              <a:spcBef>
                <a:spcPts val="600"/>
              </a:spcBef>
            </a:pPr>
            <a:r>
              <a:rPr sz="1900" b="1" i="0">
                <a:solidFill>
                  <a:srgbClr val="0D2B4E"/>
                </a:solidFill>
                <a:latin typeface="Calibri"/>
              </a:rPr>
              <a:t>Who you are and what you do.   The standards you hold your work to.   The formats you prefer.   The things you want to avoid.   Which files to check before doing anything.</a:t>
            </a:r>
          </a:p>
          <a:p>
            <a:pPr>
              <a:spcBef>
                <a:spcPts val="600"/>
              </a:spcBef>
            </a:pPr>
            <a:r>
              <a:rPr sz="1900" b="0" i="0">
                <a:solidFill>
                  <a:srgbClr val="6B7280"/>
                </a:solidFill>
                <a:latin typeface="Calibri"/>
              </a:rPr>
              <a:t>Your files live next to Claude in the same workspace. When Olivia works on diligence, Claude has access to her template, past reports, and investment criteria -- automatically, every session. When Jon drafts alumni communications, Claude has access to his voice document and alumni database.</a:t>
            </a:r>
          </a:p>
          <a:p>
            <a:pPr>
              <a:spcBef>
                <a:spcPts val="600"/>
              </a:spcBef>
            </a:pPr>
            <a:r>
              <a:rPr sz="1900" b="1" i="0">
                <a:solidFill>
                  <a:srgbClr val="0D2B4E"/>
                </a:solidFill>
                <a:latin typeface="Calibri"/>
              </a:rPr>
              <a:t>You do not paste these things in every time. They are already there.</a:t>
            </a:r>
          </a:p>
          <a:p>
            <a:pPr>
              <a:spcBef>
                <a:spcPts val="600"/>
              </a:spcBef>
            </a:pPr>
            <a:r>
              <a:rPr sz="1900" b="0" i="0">
                <a:solidFill>
                  <a:srgbClr val="C9913A"/>
                </a:solidFill>
                <a:latin typeface="Calibri"/>
              </a:rPr>
              <a:t>This is what Phil is building with you today.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sp>
        <p:nvSpPr>
          <p:cNvPr id="2" name="TextBox 1"/>
          <p:cNvSpPr txBox="1"/>
          <p:nvPr/>
        </p:nvSpPr>
        <p:spPr>
          <a:xfrm>
            <a:off x="548640" y="384048"/>
            <a:ext cx="11064240" cy="749808"/>
          </a:xfrm>
          <a:prstGeom prst="rect">
            <a:avLst/>
          </a:prstGeom>
          <a:noFill/>
        </p:spPr>
        <p:txBody>
          <a:bodyPr wrap="square">
            <a:spAutoFit/>
          </a:bodyPr>
          <a:lstStyle/>
          <a:p>
            <a:pPr algn="l"/>
            <a:r>
              <a:rPr sz="3300" b="1" i="0">
                <a:solidFill>
                  <a:srgbClr val="0D2B4E"/>
                </a:solidFill>
                <a:latin typeface="Calibri"/>
              </a:rPr>
              <a:t>Stage 2 in practice -- Jon's workspace.</a:t>
            </a:r>
          </a:p>
        </p:txBody>
      </p:sp>
      <p:sp>
        <p:nvSpPr>
          <p:cNvPr id="3" name="Rectangle 2"/>
          <p:cNvSpPr/>
          <p:nvPr/>
        </p:nvSpPr>
        <p:spPr>
          <a:xfrm>
            <a:off x="548640" y="1115568"/>
            <a:ext cx="365760" cy="50292"/>
          </a:xfrm>
          <a:prstGeom prst="rect">
            <a:avLst/>
          </a:prstGeom>
          <a:solidFill>
            <a:srgbClr val="C9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303520" cy="411480"/>
          </a:xfrm>
          <a:prstGeom prst="rect">
            <a:avLst/>
          </a:prstGeom>
          <a:noFill/>
        </p:spPr>
        <p:txBody>
          <a:bodyPr wrap="square">
            <a:spAutoFit/>
          </a:bodyPr>
          <a:lstStyle/>
          <a:p>
            <a:pPr algn="l"/>
            <a:r>
              <a:rPr sz="1600" b="1" i="0">
                <a:solidFill>
                  <a:srgbClr val="6B7280"/>
                </a:solidFill>
                <a:latin typeface="Calibri"/>
              </a:rPr>
              <a:t>What is in the system:</a:t>
            </a:r>
          </a:p>
        </p:txBody>
      </p:sp>
      <p:sp>
        <p:nvSpPr>
          <p:cNvPr id="5" name="TextBox 4"/>
          <p:cNvSpPr txBox="1"/>
          <p:nvPr/>
        </p:nvSpPr>
        <p:spPr>
          <a:xfrm>
            <a:off x="548640" y="1874519"/>
            <a:ext cx="5303520" cy="3200400"/>
          </a:xfrm>
          <a:prstGeom prst="rect">
            <a:avLst/>
          </a:prstGeom>
          <a:noFill/>
        </p:spPr>
        <p:txBody>
          <a:bodyPr wrap="square">
            <a:spAutoFit/>
          </a:bodyPr>
          <a:lstStyle/>
          <a:p>
            <a:pPr>
              <a:spcBef>
                <a:spcPts val="0"/>
              </a:spcBef>
            </a:pPr>
            <a:r>
              <a:rPr sz="1700" b="0" i="0">
                <a:solidFill>
                  <a:srgbClr val="0D2B4E"/>
                </a:solidFill>
                <a:latin typeface="Calibri"/>
              </a:rPr>
              <a:t>Master briefing file -- Jon's role, the Founders and Funders Network mandate, the Venture Summit, engagement standards, what tone to hold.</a:t>
            </a:r>
          </a:p>
          <a:p>
            <a:pPr>
              <a:spcBef>
                <a:spcPts val="600"/>
              </a:spcBef>
            </a:pPr>
            <a:r>
              <a:rPr sz="1700" b="0" i="0">
                <a:solidFill>
                  <a:srgbClr val="0D2B4E"/>
                </a:solidFill>
                <a:latin typeface="Calibri"/>
              </a:rPr>
              <a:t>Voice document -- examples of his best alumni introductions, newsletter tone, phrases he uses and ones he avoids. Every draft reads like him.</a:t>
            </a:r>
          </a:p>
          <a:p>
            <a:pPr>
              <a:spcBef>
                <a:spcPts val="600"/>
              </a:spcBef>
            </a:pPr>
            <a:r>
              <a:rPr sz="1700" b="0" i="0">
                <a:solidFill>
                  <a:srgbClr val="0D2B4E"/>
                </a:solidFill>
                <a:latin typeface="Calibri"/>
              </a:rPr>
              <a:t>Alumni database -- one file per person in his network. Background, IU connection, last touchpoint, every meeting note. Updated as he works.</a:t>
            </a:r>
          </a:p>
        </p:txBody>
      </p:sp>
      <p:sp>
        <p:nvSpPr>
          <p:cNvPr id="6" name="TextBox 5"/>
          <p:cNvSpPr txBox="1"/>
          <p:nvPr/>
        </p:nvSpPr>
        <p:spPr>
          <a:xfrm>
            <a:off x="6492240" y="1417320"/>
            <a:ext cx="5120640" cy="411480"/>
          </a:xfrm>
          <a:prstGeom prst="rect">
            <a:avLst/>
          </a:prstGeom>
          <a:noFill/>
        </p:spPr>
        <p:txBody>
          <a:bodyPr wrap="square">
            <a:spAutoFit/>
          </a:bodyPr>
          <a:lstStyle/>
          <a:p>
            <a:pPr algn="l"/>
            <a:r>
              <a:rPr sz="1600" b="1" i="0">
                <a:solidFill>
                  <a:srgbClr val="6B7280"/>
                </a:solidFill>
                <a:latin typeface="Calibri"/>
              </a:rPr>
              <a:t>What becomes possible:</a:t>
            </a:r>
          </a:p>
        </p:txBody>
      </p:sp>
      <p:sp>
        <p:nvSpPr>
          <p:cNvPr id="7" name="TextBox 6"/>
          <p:cNvSpPr txBox="1"/>
          <p:nvPr/>
        </p:nvSpPr>
        <p:spPr>
          <a:xfrm>
            <a:off x="6492240" y="1874519"/>
            <a:ext cx="5120640" cy="3200400"/>
          </a:xfrm>
          <a:prstGeom prst="rect">
            <a:avLst/>
          </a:prstGeom>
          <a:noFill/>
        </p:spPr>
        <p:txBody>
          <a:bodyPr wrap="square">
            <a:spAutoFit/>
          </a:bodyPr>
          <a:lstStyle/>
          <a:p>
            <a:pPr>
              <a:spcBef>
                <a:spcPts val="0"/>
              </a:spcBef>
            </a:pPr>
            <a:r>
              <a:rPr sz="1800" b="1" i="0">
                <a:solidFill>
                  <a:srgbClr val="0D2B4E"/>
                </a:solidFill>
                <a:latin typeface="Calibri"/>
              </a:rPr>
              <a:t>"Draft an intro between Sarah Chen and Mark Fuller."</a:t>
            </a:r>
          </a:p>
          <a:p>
            <a:pPr>
              <a:spcBef>
                <a:spcPts val="600"/>
              </a:spcBef>
            </a:pPr>
            <a:r>
              <a:rPr sz="1700" b="0" i="0">
                <a:solidFill>
                  <a:srgbClr val="6B7280"/>
                </a:solidFill>
                <a:latin typeface="Calibri"/>
              </a:rPr>
              <a:t>Claude reads Sarah's file. Reads Mark's file. Finds the specific reason these two should connect. Writes a personalized introduction that references both of their histories.</a:t>
            </a:r>
          </a:p>
          <a:p>
            <a:pPr>
              <a:spcBef>
                <a:spcPts val="600"/>
              </a:spcBef>
            </a:pPr>
            <a:r>
              <a:rPr sz="1700" b="1" i="0">
                <a:solidFill>
                  <a:srgbClr val="0D2B4E"/>
                </a:solidFill>
                <a:latin typeface="Calibri"/>
              </a:rPr>
              <a:t>Jon makes one small edit and sends.</a:t>
            </a:r>
          </a:p>
          <a:p>
            <a:pPr>
              <a:spcBef>
                <a:spcPts val="200"/>
              </a:spcBef>
            </a:pPr>
            <a:r>
              <a:rPr sz="600" b="0" i="0">
                <a:solidFill>
                  <a:srgbClr val="0D2B4E"/>
                </a:solidFill>
                <a:latin typeface="Calibri"/>
              </a:rPr>
              <a:t/>
            </a:r>
          </a:p>
          <a:p>
            <a:pPr>
              <a:spcBef>
                <a:spcPts val="600"/>
              </a:spcBef>
            </a:pPr>
            <a:r>
              <a:rPr sz="1700" b="0" i="0">
                <a:solidFill>
                  <a:srgbClr val="6B7280"/>
                </a:solidFill>
                <a:latin typeface="Calibri"/>
              </a:rPr>
              <a:t>15 minutes of memory retrieval and manual typing.</a:t>
            </a:r>
          </a:p>
          <a:p>
            <a:pPr>
              <a:spcBef>
                <a:spcPts val="600"/>
              </a:spcBef>
            </a:pPr>
            <a:r>
              <a:rPr sz="2200" b="1" i="0">
                <a:solidFill>
                  <a:srgbClr val="C9913A"/>
                </a:solidFill>
                <a:latin typeface="Calibri"/>
              </a:rPr>
              <a:t>90 seconds.</a:t>
            </a:r>
          </a:p>
        </p:txBody>
      </p:sp>
      <p:sp>
        <p:nvSpPr>
          <p:cNvPr id="8" name="Rectangle 7"/>
          <p:cNvSpPr/>
          <p:nvPr/>
        </p:nvSpPr>
        <p:spPr>
          <a:xfrm>
            <a:off x="548640" y="5120640"/>
            <a:ext cx="11064240" cy="2743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5212080"/>
            <a:ext cx="11064240" cy="822960"/>
          </a:xfrm>
          <a:prstGeom prst="rect">
            <a:avLst/>
          </a:prstGeom>
          <a:noFill/>
        </p:spPr>
        <p:txBody>
          <a:bodyPr wrap="square">
            <a:spAutoFit/>
          </a:bodyPr>
          <a:lstStyle/>
          <a:p>
            <a:pPr>
              <a:spcBef>
                <a:spcPts val="0"/>
              </a:spcBef>
            </a:pPr>
            <a:r>
              <a:rPr sz="1700" b="0" i="0">
                <a:solidFill>
                  <a:srgbClr val="6B7280"/>
                </a:solidFill>
                <a:latin typeface="Calibri"/>
              </a:rPr>
              <a:t>The key: Claude is not working from a general understanding of Jon's job. It is reading actual files about actual people before it writes a single word.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sp>
        <p:nvSpPr>
          <p:cNvPr id="2" name="TextBox 1"/>
          <p:cNvSpPr txBox="1"/>
          <p:nvPr/>
        </p:nvSpPr>
        <p:spPr>
          <a:xfrm>
            <a:off x="548640" y="384048"/>
            <a:ext cx="11064240" cy="749808"/>
          </a:xfrm>
          <a:prstGeom prst="rect">
            <a:avLst/>
          </a:prstGeom>
          <a:noFill/>
        </p:spPr>
        <p:txBody>
          <a:bodyPr wrap="square">
            <a:spAutoFit/>
          </a:bodyPr>
          <a:lstStyle/>
          <a:p>
            <a:pPr algn="l"/>
            <a:r>
              <a:rPr sz="3300" b="1" i="0">
                <a:solidFill>
                  <a:srgbClr val="0D2B4E"/>
                </a:solidFill>
                <a:latin typeface="Calibri"/>
              </a:rPr>
              <a:t>Stage 2 in practice -- Olivia's workspace.</a:t>
            </a:r>
          </a:p>
        </p:txBody>
      </p:sp>
      <p:sp>
        <p:nvSpPr>
          <p:cNvPr id="3" name="Rectangle 2"/>
          <p:cNvSpPr/>
          <p:nvPr/>
        </p:nvSpPr>
        <p:spPr>
          <a:xfrm>
            <a:off x="548640" y="1115568"/>
            <a:ext cx="365760" cy="50292"/>
          </a:xfrm>
          <a:prstGeom prst="rect">
            <a:avLst/>
          </a:prstGeom>
          <a:solidFill>
            <a:srgbClr val="C9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303520" cy="411480"/>
          </a:xfrm>
          <a:prstGeom prst="rect">
            <a:avLst/>
          </a:prstGeom>
          <a:noFill/>
        </p:spPr>
        <p:txBody>
          <a:bodyPr wrap="square">
            <a:spAutoFit/>
          </a:bodyPr>
          <a:lstStyle/>
          <a:p>
            <a:pPr algn="l"/>
            <a:r>
              <a:rPr sz="1600" b="1" i="0">
                <a:solidFill>
                  <a:srgbClr val="6B7280"/>
                </a:solidFill>
                <a:latin typeface="Calibri"/>
              </a:rPr>
              <a:t>What is in the system:</a:t>
            </a:r>
          </a:p>
        </p:txBody>
      </p:sp>
      <p:sp>
        <p:nvSpPr>
          <p:cNvPr id="5" name="TextBox 4"/>
          <p:cNvSpPr txBox="1"/>
          <p:nvPr/>
        </p:nvSpPr>
        <p:spPr>
          <a:xfrm>
            <a:off x="548640" y="1874519"/>
            <a:ext cx="5303520" cy="3200400"/>
          </a:xfrm>
          <a:prstGeom prst="rect">
            <a:avLst/>
          </a:prstGeom>
          <a:noFill/>
        </p:spPr>
        <p:txBody>
          <a:bodyPr wrap="square">
            <a:spAutoFit/>
          </a:bodyPr>
          <a:lstStyle/>
          <a:p>
            <a:pPr>
              <a:spcBef>
                <a:spcPts val="0"/>
              </a:spcBef>
            </a:pPr>
            <a:r>
              <a:rPr sz="1700" b="0" i="0">
                <a:solidFill>
                  <a:srgbClr val="0D2B4E"/>
                </a:solidFill>
                <a:latin typeface="Calibri"/>
              </a:rPr>
              <a:t>Master briefing file -- Olivia's role, IU Angel Network mandate, evaluation criteria, LP communication standards, what to flag and what to avoid.</a:t>
            </a:r>
          </a:p>
          <a:p>
            <a:pPr>
              <a:spcBef>
                <a:spcPts val="600"/>
              </a:spcBef>
            </a:pPr>
            <a:r>
              <a:rPr sz="1700" b="0" i="0">
                <a:solidFill>
                  <a:srgbClr val="0D2B4E"/>
                </a:solidFill>
                <a:latin typeface="Calibri"/>
              </a:rPr>
              <a:t>Diligence template -- section order, required coverage, sourcing standards, how to handle missing information.</a:t>
            </a:r>
          </a:p>
          <a:p>
            <a:pPr>
              <a:spcBef>
                <a:spcPts val="600"/>
              </a:spcBef>
            </a:pPr>
            <a:r>
              <a:rPr sz="1700" b="0" i="0">
                <a:solidFill>
                  <a:srgbClr val="0D2B4E"/>
                </a:solidFill>
                <a:latin typeface="Calibri"/>
              </a:rPr>
              <a:t>Investment criteria -- stage focus, check size range, IU affiliation requirements, sector priorities.</a:t>
            </a:r>
          </a:p>
          <a:p>
            <a:pPr>
              <a:spcBef>
                <a:spcPts val="600"/>
              </a:spcBef>
            </a:pPr>
            <a:r>
              <a:rPr sz="1700" b="0" i="0">
                <a:solidFill>
                  <a:srgbClr val="0D2B4E"/>
                </a:solidFill>
                <a:latin typeface="Calibri"/>
              </a:rPr>
              <a:t>Past reports -- examples of best work, sections that have been revised, recurring questions to ask founders.</a:t>
            </a:r>
          </a:p>
        </p:txBody>
      </p:sp>
      <p:sp>
        <p:nvSpPr>
          <p:cNvPr id="6" name="TextBox 5"/>
          <p:cNvSpPr txBox="1"/>
          <p:nvPr/>
        </p:nvSpPr>
        <p:spPr>
          <a:xfrm>
            <a:off x="6492240" y="1417320"/>
            <a:ext cx="5120640" cy="411480"/>
          </a:xfrm>
          <a:prstGeom prst="rect">
            <a:avLst/>
          </a:prstGeom>
          <a:noFill/>
        </p:spPr>
        <p:txBody>
          <a:bodyPr wrap="square">
            <a:spAutoFit/>
          </a:bodyPr>
          <a:lstStyle/>
          <a:p>
            <a:pPr algn="l"/>
            <a:r>
              <a:rPr sz="1600" b="1" i="0">
                <a:solidFill>
                  <a:srgbClr val="6B7280"/>
                </a:solidFill>
                <a:latin typeface="Calibri"/>
              </a:rPr>
              <a:t>What becomes possible:</a:t>
            </a:r>
          </a:p>
        </p:txBody>
      </p:sp>
      <p:sp>
        <p:nvSpPr>
          <p:cNvPr id="7" name="TextBox 6"/>
          <p:cNvSpPr txBox="1"/>
          <p:nvPr/>
        </p:nvSpPr>
        <p:spPr>
          <a:xfrm>
            <a:off x="6492240" y="1874519"/>
            <a:ext cx="5120640" cy="3200400"/>
          </a:xfrm>
          <a:prstGeom prst="rect">
            <a:avLst/>
          </a:prstGeom>
          <a:noFill/>
        </p:spPr>
        <p:txBody>
          <a:bodyPr wrap="square">
            <a:spAutoFit/>
          </a:bodyPr>
          <a:lstStyle/>
          <a:p>
            <a:pPr>
              <a:spcBef>
                <a:spcPts val="0"/>
              </a:spcBef>
            </a:pPr>
            <a:r>
              <a:rPr sz="1800" b="1" i="0">
                <a:solidFill>
                  <a:srgbClr val="0D2B4E"/>
                </a:solidFill>
                <a:latin typeface="Calibri"/>
              </a:rPr>
              <a:t>"Run first-pass diligence on Motion Sports. Materials attached."</a:t>
            </a:r>
          </a:p>
          <a:p>
            <a:pPr>
              <a:spcBef>
                <a:spcPts val="600"/>
              </a:spcBef>
            </a:pPr>
            <a:r>
              <a:rPr sz="1700" b="0" i="0">
                <a:solidFill>
                  <a:srgbClr val="6B7280"/>
                </a:solidFill>
                <a:latin typeface="Calibri"/>
              </a:rPr>
              <a:t>Claude knows the format, the standards, the evaluation criteria, and the sourcing rules -- without being told. It already read everything at session start.</a:t>
            </a:r>
          </a:p>
          <a:p>
            <a:pPr>
              <a:spcBef>
                <a:spcPts val="600"/>
              </a:spcBef>
            </a:pPr>
            <a:r>
              <a:rPr sz="1700" b="1" i="0">
                <a:solidFill>
                  <a:srgbClr val="0D2B4E"/>
                </a:solidFill>
                <a:latin typeface="Calibri"/>
              </a:rPr>
              <a:t>Output: a structured first draft, sourced, flagged where information is missing.</a:t>
            </a:r>
          </a:p>
          <a:p>
            <a:pPr>
              <a:spcBef>
                <a:spcPts val="200"/>
              </a:spcBef>
            </a:pPr>
            <a:r>
              <a:rPr sz="600" b="0" i="0">
                <a:solidFill>
                  <a:srgbClr val="0D2B4E"/>
                </a:solidFill>
                <a:latin typeface="Calibri"/>
              </a:rPr>
              <a:t/>
            </a:r>
          </a:p>
          <a:p>
            <a:pPr>
              <a:spcBef>
                <a:spcPts val="600"/>
              </a:spcBef>
            </a:pPr>
            <a:r>
              <a:rPr sz="1700" b="0" i="0">
                <a:solidFill>
                  <a:srgbClr val="6B7280"/>
                </a:solidFill>
                <a:latin typeface="Calibri"/>
              </a:rPr>
              <a:t>Four hours of research and writing.</a:t>
            </a:r>
          </a:p>
          <a:p>
            <a:pPr>
              <a:spcBef>
                <a:spcPts val="600"/>
              </a:spcBef>
            </a:pPr>
            <a:r>
              <a:rPr sz="2200" b="1" i="0">
                <a:solidFill>
                  <a:srgbClr val="C9913A"/>
                </a:solidFill>
                <a:latin typeface="Calibri"/>
              </a:rPr>
              <a:t>First draft in minutes.</a:t>
            </a:r>
          </a:p>
        </p:txBody>
      </p:sp>
      <p:sp>
        <p:nvSpPr>
          <p:cNvPr id="8" name="Rectangle 7"/>
          <p:cNvSpPr/>
          <p:nvPr/>
        </p:nvSpPr>
        <p:spPr>
          <a:xfrm>
            <a:off x="548640" y="5120640"/>
            <a:ext cx="11064240" cy="2743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5212080"/>
            <a:ext cx="11064240" cy="822960"/>
          </a:xfrm>
          <a:prstGeom prst="rect">
            <a:avLst/>
          </a:prstGeom>
          <a:noFill/>
        </p:spPr>
        <p:txBody>
          <a:bodyPr wrap="square">
            <a:spAutoFit/>
          </a:bodyPr>
          <a:lstStyle/>
          <a:p>
            <a:pPr>
              <a:spcBef>
                <a:spcPts val="0"/>
              </a:spcBef>
            </a:pPr>
            <a:r>
              <a:rPr sz="1700" b="0" i="0">
                <a:solidFill>
                  <a:srgbClr val="6B7280"/>
                </a:solidFill>
                <a:latin typeface="Calibri"/>
              </a:rPr>
              <a:t>This is not AI doing your job. It is AI doing the 80% that surrounds your judgment so you can spend your time on the 20% only you can do.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2B4E"/>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r>
              <a:rPr sz="1500" b="1" i="0">
                <a:solidFill>
                  <a:srgbClr val="C9913A"/>
                </a:solidFill>
                <a:latin typeface="Calibri"/>
              </a:rPr>
              <a:t>Stage 3</a:t>
            </a:r>
          </a:p>
        </p:txBody>
      </p:sp>
      <p:sp>
        <p:nvSpPr>
          <p:cNvPr id="3" name="TextBox 2"/>
          <p:cNvSpPr txBox="1"/>
          <p:nvPr/>
        </p:nvSpPr>
        <p:spPr>
          <a:xfrm>
            <a:off x="548640" y="384048"/>
            <a:ext cx="11064240" cy="749808"/>
          </a:xfrm>
          <a:prstGeom prst="rect">
            <a:avLst/>
          </a:prstGeom>
          <a:noFill/>
        </p:spPr>
        <p:txBody>
          <a:bodyPr wrap="square">
            <a:spAutoFit/>
          </a:bodyPr>
          <a:lstStyle/>
          <a:p>
            <a:pPr algn="l"/>
            <a:r>
              <a:rPr sz="3300" b="1" i="0">
                <a:solidFill>
                  <a:srgbClr val="FFFFFF"/>
                </a:solidFill>
                <a:latin typeface="Calibri"/>
              </a:rPr>
              <a:t>The system runs itself.</a:t>
            </a:r>
          </a:p>
        </p:txBody>
      </p:sp>
      <p:sp>
        <p:nvSpPr>
          <p:cNvPr id="4" name="Rectangle 3"/>
          <p:cNvSpPr/>
          <p:nvPr/>
        </p:nvSpPr>
        <p:spPr>
          <a:xfrm>
            <a:off x="548640" y="1115568"/>
            <a:ext cx="365760" cy="50292"/>
          </a:xfrm>
          <a:prstGeom prst="rect">
            <a:avLst/>
          </a:prstGeom>
          <a:solidFill>
            <a:srgbClr val="C9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64240" cy="5029200"/>
          </a:xfrm>
          <a:prstGeom prst="rect">
            <a:avLst/>
          </a:prstGeom>
          <a:noFill/>
        </p:spPr>
        <p:txBody>
          <a:bodyPr wrap="square">
            <a:spAutoFit/>
          </a:bodyPr>
          <a:lstStyle/>
          <a:p>
            <a:pPr>
              <a:spcBef>
                <a:spcPts val="0"/>
              </a:spcBef>
            </a:pPr>
            <a:r>
              <a:rPr sz="1900" b="0" i="0">
                <a:solidFill>
                  <a:srgbClr val="AABBCC"/>
                </a:solidFill>
                <a:latin typeface="Calibri"/>
              </a:rPr>
              <a:t>In Stage 1, you add context manually. In Stage 2, you build the context layer once and it loads. In Stage 3, you are not the one adding context anymore. The system is.</a:t>
            </a:r>
          </a:p>
          <a:p>
            <a:pPr>
              <a:spcBef>
                <a:spcPts val="600"/>
              </a:spcBef>
            </a:pPr>
            <a:r>
              <a:rPr sz="1900" b="0" i="0">
                <a:solidFill>
                  <a:srgbClr val="AABBCC"/>
                </a:solidFill>
                <a:latin typeface="Calibri"/>
              </a:rPr>
              <a:t>Every meeting Jon has with an alumnus -- the notes go into that person's file automatically. The next time he drafts an intro, Claude already knows what happened at the last meeting, what was promised, what the relationship looks like now. Jon did not update anything. The system captured it.</a:t>
            </a:r>
          </a:p>
          <a:p>
            <a:pPr>
              <a:spcBef>
                <a:spcPts val="600"/>
              </a:spcBef>
            </a:pPr>
            <a:r>
              <a:rPr sz="1900" b="0" i="0">
                <a:solidFill>
                  <a:srgbClr val="AABBCC"/>
                </a:solidFill>
                <a:latin typeface="Calibri"/>
              </a:rPr>
              <a:t>Every diligence report Olivia runs makes the next one better. The gaps she flagged, the questions she added, the sections she rewrote -- those become part of the template. The system learns from the work itself.</a:t>
            </a:r>
          </a:p>
          <a:p>
            <a:pPr>
              <a:spcBef>
                <a:spcPts val="600"/>
              </a:spcBef>
            </a:pPr>
            <a:r>
              <a:rPr sz="1900" b="1" i="0">
                <a:solidFill>
                  <a:srgbClr val="FFFFFF"/>
                </a:solidFill>
                <a:latin typeface="Calibri"/>
              </a:rPr>
              <a:t>You stop managing the context. The system manages it for you.</a:t>
            </a:r>
          </a:p>
          <a:p>
            <a:pPr>
              <a:spcBef>
                <a:spcPts val="200"/>
              </a:spcBef>
            </a:pPr>
            <a:r>
              <a:rPr sz="600" b="0" i="0">
                <a:solidFill>
                  <a:srgbClr val="0D2B4E"/>
                </a:solidFill>
                <a:latin typeface="Calibri"/>
              </a:rPr>
              <a:t/>
            </a:r>
          </a:p>
          <a:p>
            <a:pPr>
              <a:spcBef>
                <a:spcPts val="600"/>
              </a:spcBef>
            </a:pPr>
            <a:r>
              <a:rPr sz="1900" b="0" i="0">
                <a:solidFill>
                  <a:srgbClr val="C9913A"/>
                </a:solidFill>
                <a:latin typeface="Calibri"/>
              </a:rPr>
              <a:t>Skills: one command triggers an entire workflow. Jon types one line -- the intro is drafted, in his voice, ready to send. Olivia types one line -- a structured first-pass diligence is ready. The skill works because the context is already there.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sp>
        <p:nvSpPr>
          <p:cNvPr id="2" name="TextBox 1"/>
          <p:cNvSpPr txBox="1"/>
          <p:nvPr/>
        </p:nvSpPr>
        <p:spPr>
          <a:xfrm>
            <a:off x="548640" y="384048"/>
            <a:ext cx="11064240" cy="749808"/>
          </a:xfrm>
          <a:prstGeom prst="rect">
            <a:avLst/>
          </a:prstGeom>
          <a:noFill/>
        </p:spPr>
        <p:txBody>
          <a:bodyPr wrap="square">
            <a:spAutoFit/>
          </a:bodyPr>
          <a:lstStyle/>
          <a:p>
            <a:pPr algn="l"/>
            <a:r>
              <a:rPr sz="3300" b="1" i="0">
                <a:solidFill>
                  <a:srgbClr val="0D2B4E"/>
                </a:solidFill>
                <a:latin typeface="Calibri"/>
              </a:rPr>
              <a:t>Connectors -- Claude reading inside the tools you already use.</a:t>
            </a:r>
          </a:p>
        </p:txBody>
      </p:sp>
      <p:sp>
        <p:nvSpPr>
          <p:cNvPr id="3" name="Rectangle 2"/>
          <p:cNvSpPr/>
          <p:nvPr/>
        </p:nvSpPr>
        <p:spPr>
          <a:xfrm>
            <a:off x="548640" y="1115568"/>
            <a:ext cx="365760" cy="50292"/>
          </a:xfrm>
          <a:prstGeom prst="rect">
            <a:avLst/>
          </a:prstGeom>
          <a:solidFill>
            <a:srgbClr val="C9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64240" cy="5029200"/>
          </a:xfrm>
          <a:prstGeom prst="rect">
            <a:avLst/>
          </a:prstGeom>
          <a:noFill/>
        </p:spPr>
        <p:txBody>
          <a:bodyPr wrap="square">
            <a:spAutoFit/>
          </a:bodyPr>
          <a:lstStyle/>
          <a:p>
            <a:pPr>
              <a:spcBef>
                <a:spcPts val="0"/>
              </a:spcBef>
            </a:pPr>
            <a:r>
              <a:rPr sz="1900" b="1" i="0">
                <a:solidFill>
                  <a:srgbClr val="0D2B4E"/>
                </a:solidFill>
                <a:latin typeface="Calibri"/>
              </a:rPr>
              <a:t>A connector is a secure link between Claude and a tool you already use. Once connected, Claude reads that tool directly. No copying. No pasting.</a:t>
            </a:r>
          </a:p>
          <a:p>
            <a:pPr>
              <a:spcBef>
                <a:spcPts val="600"/>
              </a:spcBef>
            </a:pPr>
            <a:r>
              <a:rPr sz="1900" b="0" i="0">
                <a:solidFill>
                  <a:srgbClr val="6B7280"/>
                </a:solidFill>
                <a:latin typeface="Calibri"/>
              </a:rPr>
              <a:t>For Jon: Outlook connected means Claude reads his actual inbox before drafting a response. It reads the full thread, understands the relationship history, and drafts within the context of the real conversation -- not a copy he pasted in.</a:t>
            </a:r>
          </a:p>
          <a:p>
            <a:pPr>
              <a:spcBef>
                <a:spcPts val="600"/>
              </a:spcBef>
            </a:pPr>
            <a:r>
              <a:rPr sz="1900" b="0" i="0">
                <a:solidFill>
                  <a:srgbClr val="6B7280"/>
                </a:solidFill>
                <a:latin typeface="Calibri"/>
              </a:rPr>
              <a:t>For Olivia: Airtable connected means Claude queries her live investment pipeline. "What companies are currently in active diligence?" -- a real answer from the live database, not a version she had to copy somewhere first.</a:t>
            </a:r>
          </a:p>
          <a:p>
            <a:pPr>
              <a:spcBef>
                <a:spcPts val="200"/>
              </a:spcBef>
            </a:pPr>
            <a:r>
              <a:rPr sz="600" b="0" i="0">
                <a:solidFill>
                  <a:srgbClr val="0D2B4E"/>
                </a:solidFill>
                <a:latin typeface="Calibri"/>
              </a:rPr>
              <a:t/>
            </a:r>
          </a:p>
          <a:p>
            <a:pPr>
              <a:spcBef>
                <a:spcPts val="600"/>
              </a:spcBef>
            </a:pPr>
            <a:r>
              <a:rPr sz="1800" b="0" i="0">
                <a:solidFill>
                  <a:srgbClr val="0D2B4E"/>
                </a:solidFill>
                <a:latin typeface="Calibri"/>
              </a:rPr>
              <a:t>Available now: Gmail, Google Drive, Notion, Airtable, Slack, Zoom transcripts. Outlook and Salesforce rolling out.</a:t>
            </a:r>
          </a:p>
          <a:p>
            <a:pPr>
              <a:spcBef>
                <a:spcPts val="600"/>
              </a:spcBef>
            </a:pPr>
            <a:r>
              <a:rPr sz="1800" b="0" i="0">
                <a:solidFill>
                  <a:srgbClr val="6B7280"/>
                </a:solidFill>
                <a:latin typeface="Calibri"/>
              </a:rPr>
              <a:t>Important: connectors do not add new tools. Claude inherits your existing permissions -- if you cannot access a file in Outlook, Claude cannot access it either. Nothing leaves your existing security model.</a:t>
            </a:r>
          </a:p>
          <a:p>
            <a:pPr>
              <a:spcBef>
                <a:spcPts val="600"/>
              </a:spcBef>
            </a:pPr>
            <a:r>
              <a:rPr sz="1900" b="1" i="0">
                <a:solidFill>
                  <a:srgbClr val="C9913A"/>
                </a:solidFill>
                <a:latin typeface="Calibri"/>
              </a:rPr>
              <a:t>This is the difference between an AI you bring data to and an AI that comes to where your data lives.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sp>
        <p:nvSpPr>
          <p:cNvPr id="2" name="TextBox 1"/>
          <p:cNvSpPr txBox="1"/>
          <p:nvPr/>
        </p:nvSpPr>
        <p:spPr>
          <a:xfrm>
            <a:off x="548640" y="384048"/>
            <a:ext cx="11064240" cy="749808"/>
          </a:xfrm>
          <a:prstGeom prst="rect">
            <a:avLst/>
          </a:prstGeom>
          <a:noFill/>
        </p:spPr>
        <p:txBody>
          <a:bodyPr wrap="square">
            <a:spAutoFit/>
          </a:bodyPr>
          <a:lstStyle/>
          <a:p>
            <a:pPr algn="l"/>
            <a:r>
              <a:rPr sz="3300" b="1" i="0">
                <a:solidFill>
                  <a:srgbClr val="0D2B4E"/>
                </a:solidFill>
                <a:latin typeface="Calibri"/>
              </a:rPr>
              <a:t>One thing to name directly -- it matters for this room.</a:t>
            </a:r>
          </a:p>
        </p:txBody>
      </p:sp>
      <p:sp>
        <p:nvSpPr>
          <p:cNvPr id="3" name="Rectangle 2"/>
          <p:cNvSpPr/>
          <p:nvPr/>
        </p:nvSpPr>
        <p:spPr>
          <a:xfrm>
            <a:off x="548640" y="1115568"/>
            <a:ext cx="365760" cy="50292"/>
          </a:xfrm>
          <a:prstGeom prst="rect">
            <a:avLst/>
          </a:prstGeom>
          <a:solidFill>
            <a:srgbClr val="C9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64240" cy="5029200"/>
          </a:xfrm>
          <a:prstGeom prst="rect">
            <a:avLst/>
          </a:prstGeom>
          <a:noFill/>
        </p:spPr>
        <p:txBody>
          <a:bodyPr wrap="square">
            <a:spAutoFit/>
          </a:bodyPr>
          <a:lstStyle/>
          <a:p>
            <a:pPr>
              <a:spcBef>
                <a:spcPts val="0"/>
              </a:spcBef>
            </a:pPr>
            <a:r>
              <a:rPr sz="2000" b="1" i="0">
                <a:solidFill>
                  <a:srgbClr val="0D2B4E"/>
                </a:solidFill>
                <a:latin typeface="Calibri"/>
              </a:rPr>
              <a:t>Claude will invent numbers if you let it. That is a real limitation.</a:t>
            </a:r>
          </a:p>
          <a:p>
            <a:pPr>
              <a:spcBef>
                <a:spcPts val="600"/>
              </a:spcBef>
            </a:pPr>
            <a:r>
              <a:rPr sz="1900" b="0" i="0">
                <a:solidFill>
                  <a:srgbClr val="6B7280"/>
                </a:solidFill>
                <a:latin typeface="Calibri"/>
              </a:rPr>
              <a:t>For a team that presents diligence analysis to LPs and evaluates founders for investment, fabricated figures are not acceptable. This is not a hypothetical concern.</a:t>
            </a:r>
          </a:p>
          <a:p>
            <a:pPr>
              <a:spcBef>
                <a:spcPts val="600"/>
              </a:spcBef>
            </a:pPr>
            <a:r>
              <a:rPr sz="1900" b="0" i="0">
                <a:solidFill>
                  <a:srgbClr val="0D2B4E"/>
                </a:solidFill>
                <a:latin typeface="Calibri"/>
              </a:rPr>
              <a:t>That is why every context file we build today includes explicit instructions: cite sources, flag uncertainty, never fabricate figures. This instruction lives in the master briefing file and applies automatically to every session.</a:t>
            </a:r>
          </a:p>
          <a:p>
            <a:pPr>
              <a:spcBef>
                <a:spcPts val="600"/>
              </a:spcBef>
            </a:pPr>
            <a:r>
              <a:rPr sz="1900" b="1" i="0">
                <a:solidFill>
                  <a:srgbClr val="C9913A"/>
                </a:solidFill>
                <a:latin typeface="Calibri"/>
              </a:rPr>
              <a:t>The outputs are only as trustworthy as the instructions you give it. The discipline side of the tool, not the magic side.</a:t>
            </a:r>
          </a:p>
          <a:p>
            <a:pPr>
              <a:spcBef>
                <a:spcPts val="200"/>
              </a:spcBef>
            </a:pPr>
            <a:r>
              <a:rPr sz="600" b="0" i="0">
                <a:solidFill>
                  <a:srgbClr val="0D2B4E"/>
                </a:solidFill>
                <a:latin typeface="Calibri"/>
              </a:rPr>
              <a:t/>
            </a:r>
          </a:p>
          <a:p>
            <a:pPr>
              <a:spcBef>
                <a:spcPts val="600"/>
              </a:spcBef>
            </a:pPr>
            <a:r>
              <a:rPr sz="1800" b="0" i="0">
                <a:solidFill>
                  <a:srgbClr val="6B7280"/>
                </a:solidFill>
                <a:latin typeface="Calibri"/>
              </a:rPr>
              <a:t>On confidentiality: the context layer we build today lives in your workspace, on your machine. Portfolio data, LP relationships, and founder materials are not uploaded to a public model. Files stay local. You control what Claude has access to.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sp>
        <p:nvSpPr>
          <p:cNvPr id="2" name="TextBox 1"/>
          <p:cNvSpPr txBox="1"/>
          <p:nvPr/>
        </p:nvSpPr>
        <p:spPr>
          <a:xfrm>
            <a:off x="548640" y="384048"/>
            <a:ext cx="11064240" cy="749808"/>
          </a:xfrm>
          <a:prstGeom prst="rect">
            <a:avLst/>
          </a:prstGeom>
          <a:noFill/>
        </p:spPr>
        <p:txBody>
          <a:bodyPr wrap="square">
            <a:spAutoFit/>
          </a:bodyPr>
          <a:lstStyle/>
          <a:p>
            <a:pPr algn="l"/>
            <a:r>
              <a:rPr sz="3300" b="1" i="0">
                <a:solidFill>
                  <a:srgbClr val="0D2B4E"/>
                </a:solidFill>
                <a:latin typeface="Calibri"/>
              </a:rPr>
              <a:t>What you are building today.</a:t>
            </a:r>
          </a:p>
        </p:txBody>
      </p:sp>
      <p:sp>
        <p:nvSpPr>
          <p:cNvPr id="3" name="Rectangle 2"/>
          <p:cNvSpPr/>
          <p:nvPr/>
        </p:nvSpPr>
        <p:spPr>
          <a:xfrm>
            <a:off x="548640" y="1115568"/>
            <a:ext cx="365760" cy="50292"/>
          </a:xfrm>
          <a:prstGeom prst="rect">
            <a:avLst/>
          </a:prstGeom>
          <a:solidFill>
            <a:srgbClr val="C9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4114800" cy="438912"/>
          </a:xfrm>
          <a:prstGeom prst="rect">
            <a:avLst/>
          </a:prstGeom>
          <a:noFill/>
        </p:spPr>
        <p:txBody>
          <a:bodyPr wrap="square">
            <a:spAutoFit/>
          </a:bodyPr>
          <a:lstStyle/>
          <a:p>
            <a:pPr algn="l"/>
            <a:r>
              <a:rPr sz="2000" b="1" i="0">
                <a:solidFill>
                  <a:srgbClr val="0D2B4E"/>
                </a:solidFill>
                <a:latin typeface="Calibri"/>
              </a:rPr>
              <a:t>Your workspace.</a:t>
            </a:r>
          </a:p>
        </p:txBody>
      </p:sp>
      <p:sp>
        <p:nvSpPr>
          <p:cNvPr id="5" name="TextBox 4"/>
          <p:cNvSpPr txBox="1"/>
          <p:nvPr/>
        </p:nvSpPr>
        <p:spPr>
          <a:xfrm>
            <a:off x="4846320" y="1417320"/>
            <a:ext cx="6766560" cy="822960"/>
          </a:xfrm>
          <a:prstGeom prst="rect">
            <a:avLst/>
          </a:prstGeom>
          <a:noFill/>
        </p:spPr>
        <p:txBody>
          <a:bodyPr wrap="square">
            <a:spAutoFit/>
          </a:bodyPr>
          <a:lstStyle/>
          <a:p>
            <a:pPr algn="l"/>
            <a:r>
              <a:rPr sz="1800" b="0" i="0">
                <a:solidFill>
                  <a:srgbClr val="6B7280"/>
                </a:solidFill>
                <a:latin typeface="Calibri"/>
              </a:rPr>
              <a:t>A folder structure Claude can navigate, organized the way you actually think about your work.</a:t>
            </a:r>
          </a:p>
        </p:txBody>
      </p:sp>
      <p:sp>
        <p:nvSpPr>
          <p:cNvPr id="6" name="TextBox 5"/>
          <p:cNvSpPr txBox="1"/>
          <p:nvPr/>
        </p:nvSpPr>
        <p:spPr>
          <a:xfrm>
            <a:off x="548640" y="2377440"/>
            <a:ext cx="4114800" cy="438912"/>
          </a:xfrm>
          <a:prstGeom prst="rect">
            <a:avLst/>
          </a:prstGeom>
          <a:noFill/>
        </p:spPr>
        <p:txBody>
          <a:bodyPr wrap="square">
            <a:spAutoFit/>
          </a:bodyPr>
          <a:lstStyle/>
          <a:p>
            <a:pPr algn="l"/>
            <a:r>
              <a:rPr sz="2000" b="1" i="0">
                <a:solidFill>
                  <a:srgbClr val="0D2B4E"/>
                </a:solidFill>
                <a:latin typeface="Calibri"/>
              </a:rPr>
              <a:t>Your context layer.</a:t>
            </a:r>
          </a:p>
        </p:txBody>
      </p:sp>
      <p:sp>
        <p:nvSpPr>
          <p:cNvPr id="7" name="TextBox 6"/>
          <p:cNvSpPr txBox="1"/>
          <p:nvPr/>
        </p:nvSpPr>
        <p:spPr>
          <a:xfrm>
            <a:off x="4846320" y="2377440"/>
            <a:ext cx="6766560" cy="822960"/>
          </a:xfrm>
          <a:prstGeom prst="rect">
            <a:avLst/>
          </a:prstGeom>
          <a:noFill/>
        </p:spPr>
        <p:txBody>
          <a:bodyPr wrap="square">
            <a:spAutoFit/>
          </a:bodyPr>
          <a:lstStyle/>
          <a:p>
            <a:pPr algn="l"/>
            <a:r>
              <a:rPr sz="1800" b="0" i="0">
                <a:solidFill>
                  <a:srgbClr val="6B7280"/>
                </a:solidFill>
                <a:latin typeface="Calibri"/>
              </a:rPr>
              <a:t>Master briefing file plus supporting documents that tell Claude who you are, how you work, and what standards to hold. You build this by talking to Claude -- it asks you questions.</a:t>
            </a:r>
          </a:p>
        </p:txBody>
      </p:sp>
      <p:sp>
        <p:nvSpPr>
          <p:cNvPr id="8" name="TextBox 7"/>
          <p:cNvSpPr txBox="1"/>
          <p:nvPr/>
        </p:nvSpPr>
        <p:spPr>
          <a:xfrm>
            <a:off x="548640" y="3337560"/>
            <a:ext cx="4114800" cy="438912"/>
          </a:xfrm>
          <a:prstGeom prst="rect">
            <a:avLst/>
          </a:prstGeom>
          <a:noFill/>
        </p:spPr>
        <p:txBody>
          <a:bodyPr wrap="square">
            <a:spAutoFit/>
          </a:bodyPr>
          <a:lstStyle/>
          <a:p>
            <a:pPr algn="l"/>
            <a:r>
              <a:rPr sz="2000" b="1" i="0">
                <a:solidFill>
                  <a:srgbClr val="0D2B4E"/>
                </a:solidFill>
                <a:latin typeface="Calibri"/>
              </a:rPr>
              <a:t>Your connectors.</a:t>
            </a:r>
          </a:p>
        </p:txBody>
      </p:sp>
      <p:sp>
        <p:nvSpPr>
          <p:cNvPr id="9" name="TextBox 8"/>
          <p:cNvSpPr txBox="1"/>
          <p:nvPr/>
        </p:nvSpPr>
        <p:spPr>
          <a:xfrm>
            <a:off x="4846320" y="3337560"/>
            <a:ext cx="6766560" cy="822960"/>
          </a:xfrm>
          <a:prstGeom prst="rect">
            <a:avLst/>
          </a:prstGeom>
          <a:noFill/>
        </p:spPr>
        <p:txBody>
          <a:bodyPr wrap="square">
            <a:spAutoFit/>
          </a:bodyPr>
          <a:lstStyle/>
          <a:p>
            <a:pPr algn="l"/>
            <a:r>
              <a:rPr sz="1800" b="0" i="0">
                <a:solidFill>
                  <a:srgbClr val="6B7280"/>
                </a:solidFill>
                <a:latin typeface="Calibri"/>
              </a:rPr>
              <a:t>Live links between Claude and the tools you already use. Airtable, Notion, Outlook. Once connected, Claude reads live data instead of copies you paste in.</a:t>
            </a:r>
          </a:p>
        </p:txBody>
      </p:sp>
      <p:sp>
        <p:nvSpPr>
          <p:cNvPr id="10" name="TextBox 9"/>
          <p:cNvSpPr txBox="1"/>
          <p:nvPr/>
        </p:nvSpPr>
        <p:spPr>
          <a:xfrm>
            <a:off x="548640" y="4297680"/>
            <a:ext cx="4114800" cy="438912"/>
          </a:xfrm>
          <a:prstGeom prst="rect">
            <a:avLst/>
          </a:prstGeom>
          <a:noFill/>
        </p:spPr>
        <p:txBody>
          <a:bodyPr wrap="square">
            <a:spAutoFit/>
          </a:bodyPr>
          <a:lstStyle/>
          <a:p>
            <a:pPr algn="l"/>
            <a:r>
              <a:rPr sz="2000" b="1" i="0">
                <a:solidFill>
                  <a:srgbClr val="0D2B4E"/>
                </a:solidFill>
                <a:latin typeface="Calibri"/>
              </a:rPr>
              <a:t>Your first skills.</a:t>
            </a:r>
          </a:p>
        </p:txBody>
      </p:sp>
      <p:sp>
        <p:nvSpPr>
          <p:cNvPr id="11" name="TextBox 10"/>
          <p:cNvSpPr txBox="1"/>
          <p:nvPr/>
        </p:nvSpPr>
        <p:spPr>
          <a:xfrm>
            <a:off x="4846320" y="4297680"/>
            <a:ext cx="6766560" cy="822960"/>
          </a:xfrm>
          <a:prstGeom prst="rect">
            <a:avLst/>
          </a:prstGeom>
          <a:noFill/>
        </p:spPr>
        <p:txBody>
          <a:bodyPr wrap="square">
            <a:spAutoFit/>
          </a:bodyPr>
          <a:lstStyle/>
          <a:p>
            <a:pPr algn="l"/>
            <a:r>
              <a:rPr sz="1800" b="0" i="0">
                <a:solidFill>
                  <a:srgbClr val="6B7280"/>
                </a:solidFill>
                <a:latin typeface="Calibri"/>
              </a:rPr>
              <a:t>Pre-built automations triggered by one command. Jon's alumni intro skill. Olivia's first-pass diligence skill. Tony's deal brief skill. Built once, used every time.</a:t>
            </a:r>
          </a:p>
        </p:txBody>
      </p:sp>
      <p:sp>
        <p:nvSpPr>
          <p:cNvPr id="12" name="Rectangle 11"/>
          <p:cNvSpPr/>
          <p:nvPr/>
        </p:nvSpPr>
        <p:spPr>
          <a:xfrm>
            <a:off x="548640" y="5349240"/>
            <a:ext cx="11064240" cy="2743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486400"/>
            <a:ext cx="11064240" cy="502920"/>
          </a:xfrm>
          <a:prstGeom prst="rect">
            <a:avLst/>
          </a:prstGeom>
          <a:noFill/>
        </p:spPr>
        <p:txBody>
          <a:bodyPr wrap="square">
            <a:spAutoFit/>
          </a:bodyPr>
          <a:lstStyle/>
          <a:p>
            <a:pPr algn="l"/>
            <a:r>
              <a:rPr sz="1800" b="1" i="0">
                <a:solidFill>
                  <a:srgbClr val="C9913A"/>
                </a:solidFill>
                <a:latin typeface="Calibri"/>
              </a:rPr>
              <a:t>By the end of today, Claude will know you well enough that you sit down tomorrow, open your workspace, and work -- without explaining yourself.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sp>
        <p:nvSpPr>
          <p:cNvPr id="2" name="TextBox 1"/>
          <p:cNvSpPr txBox="1"/>
          <p:nvPr/>
        </p:nvSpPr>
        <p:spPr>
          <a:xfrm>
            <a:off x="548640" y="384048"/>
            <a:ext cx="11064240" cy="749808"/>
          </a:xfrm>
          <a:prstGeom prst="rect">
            <a:avLst/>
          </a:prstGeom>
          <a:noFill/>
        </p:spPr>
        <p:txBody>
          <a:bodyPr wrap="square">
            <a:spAutoFit/>
          </a:bodyPr>
          <a:lstStyle/>
          <a:p>
            <a:pPr algn="l"/>
            <a:r>
              <a:rPr sz="3300" b="1" i="0">
                <a:solidFill>
                  <a:srgbClr val="0D2B4E"/>
                </a:solidFill>
                <a:latin typeface="Calibri"/>
              </a:rPr>
              <a:t>The system you build today is not static. It learns as you use it.</a:t>
            </a:r>
          </a:p>
        </p:txBody>
      </p:sp>
      <p:sp>
        <p:nvSpPr>
          <p:cNvPr id="3" name="Rectangle 2"/>
          <p:cNvSpPr/>
          <p:nvPr/>
        </p:nvSpPr>
        <p:spPr>
          <a:xfrm>
            <a:off x="548640" y="1115568"/>
            <a:ext cx="365760" cy="50292"/>
          </a:xfrm>
          <a:prstGeom prst="rect">
            <a:avLst/>
          </a:prstGeom>
          <a:solidFill>
            <a:srgbClr val="C9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64240" cy="5029200"/>
          </a:xfrm>
          <a:prstGeom prst="rect">
            <a:avLst/>
          </a:prstGeom>
          <a:noFill/>
        </p:spPr>
        <p:txBody>
          <a:bodyPr wrap="square">
            <a:spAutoFit/>
          </a:bodyPr>
          <a:lstStyle/>
          <a:p>
            <a:pPr>
              <a:spcBef>
                <a:spcPts val="0"/>
              </a:spcBef>
            </a:pPr>
            <a:r>
              <a:rPr sz="1900" b="1" i="0">
                <a:solidFill>
                  <a:srgbClr val="0D2B4E"/>
                </a:solidFill>
                <a:latin typeface="Calibri"/>
              </a:rPr>
              <a:t>Today:  you do the work, AI assists.</a:t>
            </a:r>
          </a:p>
          <a:p>
            <a:pPr>
              <a:spcBef>
                <a:spcPts val="600"/>
              </a:spcBef>
            </a:pPr>
            <a:r>
              <a:rPr sz="1900" b="0" i="0">
                <a:solidFill>
                  <a:srgbClr val="0D2B4E"/>
                </a:solidFill>
                <a:latin typeface="Calibri"/>
              </a:rPr>
              <a:t>As the context matures:  AI drafts, you review and approve.</a:t>
            </a:r>
          </a:p>
          <a:p>
            <a:pPr>
              <a:spcBef>
                <a:spcPts val="600"/>
              </a:spcBef>
            </a:pPr>
            <a:r>
              <a:rPr sz="1900" b="0" i="0">
                <a:solidFill>
                  <a:srgbClr val="0D2B4E"/>
                </a:solidFill>
                <a:latin typeface="Calibri"/>
              </a:rPr>
              <a:t>Eventually:  AI identifies what needs attention, surfaces recommendations, prepares the work, and waits for approval before anything goes out.</a:t>
            </a:r>
          </a:p>
          <a:p>
            <a:pPr>
              <a:spcBef>
                <a:spcPts val="200"/>
              </a:spcBef>
            </a:pPr>
            <a:r>
              <a:rPr sz="600" b="0" i="0">
                <a:solidFill>
                  <a:srgbClr val="0D2B4E"/>
                </a:solidFill>
                <a:latin typeface="Calibri"/>
              </a:rPr>
              <a:t/>
            </a:r>
          </a:p>
          <a:p>
            <a:pPr>
              <a:spcBef>
                <a:spcPts val="600"/>
              </a:spcBef>
            </a:pPr>
            <a:r>
              <a:rPr sz="1900" b="1" i="0">
                <a:solidFill>
                  <a:srgbClr val="C9913A"/>
                </a:solidFill>
                <a:latin typeface="Calibri"/>
              </a:rPr>
              <a:t>The approval layer is not optional -- it is the design.</a:t>
            </a:r>
          </a:p>
          <a:p>
            <a:pPr>
              <a:spcBef>
                <a:spcPts val="600"/>
              </a:spcBef>
            </a:pPr>
            <a:r>
              <a:rPr sz="1900" b="0" i="0">
                <a:solidFill>
                  <a:srgbClr val="6B7280"/>
                </a:solidFill>
                <a:latin typeface="Calibri"/>
              </a:rPr>
              <a:t>Jon's introduction is drafted, formatted, and ready to send. Olivia's first-pass diligence is structured and sourced. Tony's deal brief is pulled and prioritized. Nothing leaves until a human reviews it and approves.</a:t>
            </a:r>
          </a:p>
          <a:p>
            <a:pPr>
              <a:spcBef>
                <a:spcPts val="600"/>
              </a:spcBef>
            </a:pPr>
            <a:r>
              <a:rPr sz="1900" b="1" i="0">
                <a:solidFill>
                  <a:srgbClr val="0D2B4E"/>
                </a:solidFill>
                <a:latin typeface="Calibri"/>
              </a:rPr>
              <a:t>The human is no longer doing the 80% that surrounds the decision. They are doing the decision.</a:t>
            </a:r>
          </a:p>
          <a:p>
            <a:pPr>
              <a:spcBef>
                <a:spcPts val="200"/>
              </a:spcBef>
            </a:pPr>
            <a:r>
              <a:rPr sz="600" b="0" i="0">
                <a:solidFill>
                  <a:srgbClr val="0D2B4E"/>
                </a:solidFill>
                <a:latin typeface="Calibri"/>
              </a:rPr>
              <a:t/>
            </a:r>
          </a:p>
          <a:p>
            <a:pPr>
              <a:spcBef>
                <a:spcPts val="600"/>
              </a:spcBef>
            </a:pPr>
            <a:r>
              <a:rPr sz="1800" b="0" i="0">
                <a:solidFill>
                  <a:srgbClr val="6B7280"/>
                </a:solidFill>
                <a:latin typeface="Calibri"/>
              </a:rPr>
              <a:t>Every meeting note added to Jon's alumni database makes the next introduction better. Every diligence report sharpens Olivia's template. Every context file Tony builds makes the next deal brief more accurate. The system grows from the work itself.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2B4E"/>
        </a:solidFill>
        <a:effectLst/>
      </p:bgPr>
    </p:bg>
    <p:spTree>
      <p:nvGrpSpPr>
        <p:cNvPr id="1" name=""/>
        <p:cNvGrpSpPr/>
        <p:nvPr/>
      </p:nvGrpSpPr>
      <p:grpSpPr/>
      <p:sp>
        <p:nvSpPr>
          <p:cNvPr id="2" name="TextBox 1"/>
          <p:cNvSpPr txBox="1"/>
          <p:nvPr/>
        </p:nvSpPr>
        <p:spPr>
          <a:xfrm>
            <a:off x="548640" y="384048"/>
            <a:ext cx="11064240" cy="749808"/>
          </a:xfrm>
          <a:prstGeom prst="rect">
            <a:avLst/>
          </a:prstGeom>
          <a:noFill/>
        </p:spPr>
        <p:txBody>
          <a:bodyPr wrap="square">
            <a:spAutoFit/>
          </a:bodyPr>
          <a:lstStyle/>
          <a:p>
            <a:pPr algn="l"/>
            <a:r>
              <a:rPr sz="3300" b="1" i="0">
                <a:solidFill>
                  <a:srgbClr val="FFFFFF"/>
                </a:solidFill>
                <a:latin typeface="Calibri"/>
              </a:rPr>
              <a:t>Before Phil takes over.</a:t>
            </a:r>
          </a:p>
        </p:txBody>
      </p:sp>
      <p:sp>
        <p:nvSpPr>
          <p:cNvPr id="3" name="Rectangle 2"/>
          <p:cNvSpPr/>
          <p:nvPr/>
        </p:nvSpPr>
        <p:spPr>
          <a:xfrm>
            <a:off x="548640" y="1115568"/>
            <a:ext cx="365760" cy="50292"/>
          </a:xfrm>
          <a:prstGeom prst="rect">
            <a:avLst/>
          </a:prstGeom>
          <a:solidFill>
            <a:srgbClr val="C9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64240" cy="5029200"/>
          </a:xfrm>
          <a:prstGeom prst="rect">
            <a:avLst/>
          </a:prstGeom>
          <a:noFill/>
        </p:spPr>
        <p:txBody>
          <a:bodyPr wrap="square">
            <a:spAutoFit/>
          </a:bodyPr>
          <a:lstStyle/>
          <a:p>
            <a:pPr>
              <a:spcBef>
                <a:spcPts val="0"/>
              </a:spcBef>
            </a:pPr>
            <a:r>
              <a:rPr sz="2200" b="1" i="0">
                <a:solidFill>
                  <a:srgbClr val="FFFFFF"/>
                </a:solidFill>
                <a:latin typeface="Calibri"/>
              </a:rPr>
              <a:t>Anything here you are skeptical of?</a:t>
            </a:r>
          </a:p>
          <a:p>
            <a:pPr>
              <a:spcBef>
                <a:spcPts val="600"/>
              </a:spcBef>
            </a:pPr>
            <a:r>
              <a:rPr sz="1900" b="0" i="0">
                <a:solidFill>
                  <a:srgbClr val="AABBCC"/>
                </a:solidFill>
                <a:latin typeface="Calibri"/>
              </a:rPr>
              <a:t>If there is a place where what I described does not match how your work actually runs, I want to hear it now -- not after we have built something.</a:t>
            </a:r>
          </a:p>
          <a:p>
            <a:pPr>
              <a:spcBef>
                <a:spcPts val="200"/>
              </a:spcBef>
            </a:pPr>
            <a:r>
              <a:rPr sz="800" b="0" i="0">
                <a:solidFill>
                  <a:srgbClr val="0D2B4E"/>
                </a:solidFill>
                <a:latin typeface="Calibri"/>
              </a:rPr>
              <a:t/>
            </a:r>
          </a:p>
          <a:p>
            <a:pPr>
              <a:spcBef>
                <a:spcPts val="600"/>
              </a:spcBef>
            </a:pPr>
            <a:r>
              <a:rPr sz="1900" b="1" i="0">
                <a:solidFill>
                  <a:srgbClr val="C9913A"/>
                </a:solidFill>
                <a:latin typeface="Calibri"/>
              </a:rPr>
              <a:t>The one thing to carry forward:</a:t>
            </a:r>
          </a:p>
          <a:p>
            <a:pPr>
              <a:spcBef>
                <a:spcPts val="600"/>
              </a:spcBef>
            </a:pPr>
            <a:r>
              <a:rPr sz="1900" b="0" i="0">
                <a:solidFill>
                  <a:srgbClr val="FFFFFF"/>
                </a:solidFill>
                <a:latin typeface="Calibri"/>
              </a:rPr>
              <a:t>Ask Claude how to approach it before you start. Whatever Phil puts in front of you, whatever task you are staring at -- before you try to solve it, ask Claude how to approach it. Get comfortable with that posture.</a:t>
            </a:r>
          </a:p>
          <a:p>
            <a:pPr>
              <a:spcBef>
                <a:spcPts val="600"/>
              </a:spcBef>
            </a:pPr>
            <a:r>
              <a:rPr sz="2100" b="1" i="0">
                <a:solidFill>
                  <a:srgbClr val="C9913A"/>
                </a:solidFill>
                <a:latin typeface="Calibri"/>
              </a:rPr>
              <a:t>It will pay off every single time.</a:t>
            </a:r>
          </a:p>
          <a:p>
            <a:pPr>
              <a:spcBef>
                <a:spcPts val="200"/>
              </a:spcBef>
            </a:pPr>
            <a:r>
              <a:rPr sz="600" b="0" i="0">
                <a:solidFill>
                  <a:srgbClr val="0D2B4E"/>
                </a:solidFill>
                <a:latin typeface="Calibri"/>
              </a:rPr>
              <a:t/>
            </a:r>
          </a:p>
          <a:p>
            <a:pPr>
              <a:spcBef>
                <a:spcPts val="600"/>
              </a:spcBef>
            </a:pPr>
            <a:r>
              <a:rPr sz="1600" b="0" i="0">
                <a:solidFill>
                  <a:srgbClr val="AABBCC"/>
                </a:solidFill>
                <a:latin typeface="Calibri"/>
              </a:rPr>
              <a:t>Phil, over to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