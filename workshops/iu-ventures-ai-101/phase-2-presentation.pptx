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Calibri"/>
              </a:rPr>
              <a:t>Phase 2: Your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926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9913A"/>
                </a:solidFill>
                <a:latin typeface="Calibri"/>
              </a:rPr>
              <a:t>VS Code +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CC"/>
                </a:solidFill>
                <a:latin typeface="Calibri"/>
              </a:rPr>
              <a:t>30 min  ·  Hands-on  ·  One step per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0D2B4E"/>
                </a:solidFill>
                <a:latin typeface="Calibri"/>
              </a:rPr>
              <a:t>By the end of this section, you will have: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365760" cy="50292"/>
          </a:xfrm>
          <a:prstGeom prst="rect">
            <a:avLst/>
          </a:prstGeom>
          <a:solidFill>
            <a:srgbClr val="C9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913A"/>
                </a:solidFill>
                <a:latin typeface="Calibri"/>
              </a:rPr>
              <a:t>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63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D2B4E"/>
                </a:solidFill>
                <a:latin typeface="Calibri"/>
              </a:rPr>
              <a:t>Node.js installed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21408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913A"/>
                </a:solidFill>
                <a:latin typeface="Calibri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2140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D2B4E"/>
                </a:solidFill>
                <a:latin typeface="Calibri"/>
              </a:rPr>
              <a:t>VS Code installed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79776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913A"/>
                </a:solidFill>
                <a:latin typeface="Calibri"/>
              </a:rP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79776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D2B4E"/>
                </a:solidFill>
                <a:latin typeface="Calibri"/>
              </a:rPr>
              <a:t>Claude Code running inside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38144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913A"/>
                </a:solidFill>
                <a:latin typeface="Calibri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438144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D2B4E"/>
                </a:solidFill>
                <a:latin typeface="Calibri"/>
              </a:rPr>
              <a:t>Your workspace ready to 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913A"/>
                </a:solidFill>
                <a:latin typeface="Calibri"/>
              </a:rPr>
              <a:t>Step 1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0D2B4E"/>
                </a:solidFill>
                <a:latin typeface="Calibri"/>
              </a:rPr>
              <a:t>Install Node.js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365760" cy="50292"/>
          </a:xfrm>
          <a:prstGeom prst="rect">
            <a:avLst/>
          </a:prstGeom>
          <a:solidFill>
            <a:srgbClr val="C9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100" b="0" i="0">
                <a:solidFill>
                  <a:srgbClr val="0D2B4E"/>
                </a:solidFill>
                <a:latin typeface="Calibri"/>
              </a:rPr>
              <a:t>Go to  nodejs.org  and download the LTS version.</a:t>
            </a:r>
          </a:p>
          <a:p>
            <a:pPr>
              <a:spcBef>
                <a:spcPts val="600"/>
              </a:spcBef>
            </a:pPr>
            <a:r>
              <a:rPr sz="2100" b="0" i="0">
                <a:solidFill>
                  <a:srgbClr val="6B7280"/>
                </a:solidFill>
                <a:latin typeface="Calibri"/>
              </a:rPr>
              <a:t>Run the installer and accept all defaults.</a:t>
            </a:r>
          </a:p>
          <a:p>
            <a:pPr>
              <a:spcBef>
                <a:spcPts val="200"/>
              </a:spcBef>
            </a:pPr>
            <a:r>
              <a:rPr sz="600" b="0" i="0">
                <a:solidFill>
                  <a:srgbClr val="0D2B4E"/>
                </a:solidFill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900" b="0" i="0">
                <a:solidFill>
                  <a:srgbClr val="6B7280"/>
                </a:solidFill>
                <a:latin typeface="Calibri"/>
              </a:rPr>
              <a:t>Once installed, open the VS Code terminal and verify: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37560"/>
            <a:ext cx="11064240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000">
                <a:solidFill>
                  <a:srgbClr val="9AE0B4"/>
                </a:solidFill>
                <a:latin typeface="Courier New"/>
              </a:rPr>
              <a:t>   node --version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 b="0" i="1">
                <a:solidFill>
                  <a:srgbClr val="6B7280"/>
                </a:solidFill>
                <a:latin typeface="Calibri"/>
              </a:rPr>
              <a:t>You should see a version number. If you do, you are ready to move 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913A"/>
                </a:solidFill>
                <a:latin typeface="Calibri"/>
              </a:rPr>
              <a:t>Step 2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0D2B4E"/>
                </a:solidFill>
                <a:latin typeface="Calibri"/>
              </a:rPr>
              <a:t>Install VS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365760" cy="50292"/>
          </a:xfrm>
          <a:prstGeom prst="rect">
            <a:avLst/>
          </a:prstGeom>
          <a:solidFill>
            <a:srgbClr val="C9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100" b="0" i="0">
                <a:solidFill>
                  <a:srgbClr val="0D2B4E"/>
                </a:solidFill>
                <a:latin typeface="Calibri"/>
              </a:rPr>
              <a:t>Go to  code.visualstudio.com  and download the version for your operating system.</a:t>
            </a:r>
          </a:p>
          <a:p>
            <a:pPr>
              <a:spcBef>
                <a:spcPts val="600"/>
              </a:spcBef>
            </a:pPr>
            <a:r>
              <a:rPr sz="2100" b="0" i="0">
                <a:solidFill>
                  <a:srgbClr val="6B7280"/>
                </a:solidFill>
                <a:latin typeface="Calibri"/>
              </a:rPr>
              <a:t>Run the installer and accept all defaults.</a:t>
            </a:r>
          </a:p>
          <a:p>
            <a:pPr>
              <a:spcBef>
                <a:spcPts val="200"/>
              </a:spcBef>
            </a:pPr>
            <a:r>
              <a:rPr sz="600" b="0" i="0">
                <a:solidFill>
                  <a:srgbClr val="0D2B4E"/>
                </a:solidFill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900" b="0" i="0">
                <a:solidFill>
                  <a:srgbClr val="6B7280"/>
                </a:solidFill>
                <a:latin typeface="Calibri"/>
              </a:rPr>
              <a:t>VS Code is the workspace Claude Code lives inside. Think of it as the cockpit -- your files are on the left, Claude is on the right, and everything runs from the terminal at the bottom.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913A"/>
                </a:solidFill>
                <a:latin typeface="Calibri"/>
              </a:rPr>
              <a:t>Step 3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0D2B4E"/>
                </a:solidFill>
                <a:latin typeface="Calibri"/>
              </a:rPr>
              <a:t>Install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365760" cy="50292"/>
          </a:xfrm>
          <a:prstGeom prst="rect">
            <a:avLst/>
          </a:prstGeom>
          <a:solidFill>
            <a:srgbClr val="C9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100" b="0" i="0">
                <a:solidFill>
                  <a:srgbClr val="0D2B4E"/>
                </a:solidFill>
                <a:latin typeface="Calibri"/>
              </a:rPr>
              <a:t>Open the VS Code terminal with  Ctrl + `  (the backtick key, top-left of your keyboard).</a:t>
            </a:r>
          </a:p>
          <a:p>
            <a:pPr>
              <a:spcBef>
                <a:spcPts val="600"/>
              </a:spcBef>
            </a:pPr>
            <a:r>
              <a:rPr sz="1900" b="0" i="0">
                <a:solidFill>
                  <a:srgbClr val="6B7280"/>
                </a:solidFill>
                <a:latin typeface="Calibri"/>
              </a:rPr>
              <a:t>Run this command: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88920"/>
            <a:ext cx="11064240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000">
                <a:solidFill>
                  <a:srgbClr val="9AE0B4"/>
                </a:solidFill>
                <a:latin typeface="Courier New"/>
              </a:rPr>
              <a:t>   npm install -g @anthropic-ai/claude-code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9300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900" b="0" i="0">
                <a:solidFill>
                  <a:srgbClr val="6B7280"/>
                </a:solidFill>
                <a:latin typeface="Calibri"/>
              </a:rPr>
              <a:t>When it finishes, verify the install: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77639"/>
            <a:ext cx="11064240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000">
                <a:solidFill>
                  <a:srgbClr val="9AE0B4"/>
                </a:solidFill>
                <a:latin typeface="Courier New"/>
              </a:rPr>
              <a:t>   claude --version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8172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 b="0" i="1">
                <a:solidFill>
                  <a:srgbClr val="6B7280"/>
                </a:solidFill>
                <a:latin typeface="Calibri"/>
              </a:rPr>
              <a:t>You should see a version number. Claude Code is installed.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913A"/>
                </a:solidFill>
                <a:latin typeface="Calibri"/>
              </a:rPr>
              <a:t>Step 4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0D2B4E"/>
                </a:solidFill>
                <a:latin typeface="Calibri"/>
              </a:rPr>
              <a:t>Create Your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365760" cy="50292"/>
          </a:xfrm>
          <a:prstGeom prst="rect">
            <a:avLst/>
          </a:prstGeom>
          <a:solidFill>
            <a:srgbClr val="C9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100" b="0" i="0">
                <a:solidFill>
                  <a:srgbClr val="0D2B4E"/>
                </a:solidFill>
                <a:latin typeface="Calibri"/>
              </a:rPr>
              <a:t>Create a new folder on your Desktop. Name it whatever makes sense -- your name, your role, or your organization.</a:t>
            </a:r>
          </a:p>
          <a:p>
            <a:pPr>
              <a:spcBef>
                <a:spcPts val="600"/>
              </a:spcBef>
            </a:pPr>
            <a:r>
              <a:rPr sz="2100" b="0" i="0">
                <a:solidFill>
                  <a:srgbClr val="0D2B4E"/>
                </a:solidFill>
                <a:latin typeface="Calibri"/>
              </a:rPr>
              <a:t>In VS Code:  File  →  Open Folder  →  select the folder you just created.</a:t>
            </a:r>
          </a:p>
          <a:p>
            <a:pPr>
              <a:spcBef>
                <a:spcPts val="200"/>
              </a:spcBef>
            </a:pPr>
            <a:r>
              <a:rPr sz="600" b="0" i="0">
                <a:solidFill>
                  <a:srgbClr val="0D2B4E"/>
                </a:solidFill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1900" b="0" i="0">
                <a:solidFill>
                  <a:srgbClr val="6B7280"/>
                </a:solidFill>
                <a:latin typeface="Calibri"/>
              </a:rPr>
              <a:t>This folder is your home base. Everything Claude builds with you today lives here -- your context bank, your files, your templates, your automations. Claude reads this folder every time you open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913A"/>
                </a:solidFill>
                <a:latin typeface="Calibri"/>
              </a:rPr>
              <a:t>Step 5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0D2B4E"/>
                </a:solidFill>
                <a:latin typeface="Calibri"/>
              </a:rPr>
              <a:t>Install Extensions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365760" cy="50292"/>
          </a:xfrm>
          <a:prstGeom prst="rect">
            <a:avLst/>
          </a:prstGeom>
          <a:solidFill>
            <a:srgbClr val="C9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100" b="0" i="0">
                <a:solidFill>
                  <a:srgbClr val="0D2B4E"/>
                </a:solidFill>
                <a:latin typeface="Calibri"/>
              </a:rPr>
              <a:t>Open the Extensions panel with  Ctrl + Shift + X  and search for and install both of these: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913A"/>
                </a:solidFill>
                <a:latin typeface="Calibri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2B4E"/>
                </a:solidFill>
                <a:latin typeface="Calibri"/>
              </a:rPr>
              <a:t>Claude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3288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Calibri"/>
              </a:rPr>
              <a:t>by Anthropic -- this is the AI layer inside VS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9913A"/>
                </a:solidFill>
                <a:latin typeface="Calibri"/>
              </a:rP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2B4E"/>
                </a:solidFill>
                <a:latin typeface="Calibri"/>
              </a:rPr>
              <a:t>Material Icon Theme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387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B7280"/>
                </a:solidFill>
                <a:latin typeface="Calibri"/>
              </a:rPr>
              <a:t>makes your file explorer easier to read 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1900" b="0" i="1">
                <a:solidFill>
                  <a:srgbClr val="6B7280"/>
                </a:solidFill>
                <a:latin typeface="Calibri"/>
              </a:rPr>
              <a:t>Once both are installed, you will see the Claude Code icon appear in your VS Code sidebar.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913A"/>
                </a:solidFill>
                <a:latin typeface="Calibri"/>
              </a:rPr>
              <a:t>Step 6 of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0D2B4E"/>
                </a:solidFill>
                <a:latin typeface="Calibri"/>
              </a:rPr>
              <a:t>Log In and Confirm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15568"/>
            <a:ext cx="365760" cy="50292"/>
          </a:xfrm>
          <a:prstGeom prst="rect">
            <a:avLst/>
          </a:prstGeom>
          <a:solidFill>
            <a:srgbClr val="C9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100" b="0" i="0">
                <a:solidFill>
                  <a:srgbClr val="0D2B4E"/>
                </a:solidFill>
                <a:latin typeface="Calibri"/>
              </a:rPr>
              <a:t>Click the Claude Code icon in the VS Code sidebar.</a:t>
            </a:r>
          </a:p>
          <a:p>
            <a:pPr>
              <a:spcBef>
                <a:spcPts val="600"/>
              </a:spcBef>
            </a:pPr>
            <a:r>
              <a:rPr sz="2100" b="0" i="0">
                <a:solidFill>
                  <a:srgbClr val="6B7280"/>
                </a:solidFill>
                <a:latin typeface="Calibri"/>
              </a:rPr>
              <a:t>Log in with your Claude.ai Pro account.</a:t>
            </a:r>
          </a:p>
          <a:p>
            <a:pPr>
              <a:spcBef>
                <a:spcPts val="200"/>
              </a:spcBef>
            </a:pPr>
            <a:r>
              <a:rPr sz="600" b="0" i="0">
                <a:solidFill>
                  <a:srgbClr val="0D2B4E"/>
                </a:solidFill>
                <a:latin typeface="Calibri"/>
              </a:rPr>
              <a:t/>
            </a:r>
          </a:p>
          <a:p>
            <a:pPr>
              <a:spcBef>
                <a:spcPts val="600"/>
              </a:spcBef>
            </a:pPr>
            <a:r>
              <a:rPr sz="2100" b="0" i="0">
                <a:solidFill>
                  <a:srgbClr val="0D2B4E"/>
                </a:solidFill>
                <a:latin typeface="Calibri"/>
              </a:rPr>
              <a:t>Once logged in, type  "hello"  in the Claude panel and hit Enter.</a:t>
            </a:r>
          </a:p>
          <a:p>
            <a:pPr>
              <a:spcBef>
                <a:spcPts val="600"/>
              </a:spcBef>
            </a:pPr>
            <a:r>
              <a:rPr sz="2200" b="1" i="0">
                <a:solidFill>
                  <a:srgbClr val="C9913A"/>
                </a:solidFill>
                <a:latin typeface="Calibri"/>
              </a:rPr>
              <a:t>If Claude responds, you are 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Claude Code is running.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9260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9913A"/>
                </a:solidFill>
                <a:latin typeface="Calibri"/>
              </a:rPr>
              <a:t>Next up: making it yours.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