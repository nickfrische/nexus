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Phase 2: Your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260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C9913A"/>
                </a:solidFill>
                <a:latin typeface="Calibri"/>
              </a:rPr>
              <a:t>VS Code +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BBCC"/>
                </a:solidFill>
                <a:latin typeface="Calibri"/>
              </a:rPr>
              <a:t>30 min  ·  Hands-on  ·  One step per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By the end of this section, you will have: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B4E"/>
                </a:solidFill>
                <a:latin typeface="Calibri"/>
              </a:rPr>
              <a:t>Node.js installed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121408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B4E"/>
                </a:solidFill>
                <a:latin typeface="Calibri"/>
              </a:rPr>
              <a:t>VS Code installed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79776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79776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B4E"/>
                </a:solidFill>
                <a:latin typeface="Calibri"/>
              </a:rPr>
              <a:t>Claude Code running inside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38144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3814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B4E"/>
                </a:solidFill>
                <a:latin typeface="Calibri"/>
              </a:rPr>
              <a:t>Your workspace ready to 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913A"/>
                </a:solidFill>
                <a:latin typeface="Calibri"/>
              </a:rPr>
              <a:t>Step 1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Install Node.js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Go to  nodejs.org  and download the LTS version.</a:t>
            </a:r>
          </a:p>
          <a:p>
            <a:pPr>
              <a:spcBef>
                <a:spcPts val="600"/>
              </a:spcBef>
            </a:pPr>
            <a:r>
              <a:rPr sz="2100" b="0" i="0">
                <a:solidFill>
                  <a:srgbClr val="6B7280"/>
                </a:solidFill>
                <a:latin typeface="Calibri"/>
              </a:rPr>
              <a:t>Run the installer and accept all defaults.</a:t>
            </a:r>
          </a:p>
          <a:p>
            <a:pPr>
              <a:spcBef>
                <a:spcPts val="200"/>
              </a:spcBef>
            </a:pPr>
            <a:r>
              <a:rPr sz="600" b="0" i="0">
                <a:solidFill>
                  <a:srgbClr val="0D2B4E"/>
                </a:solidFill>
                <a:latin typeface="Calibri"/>
              </a:rPr>
              <a:t/>
            </a:r>
          </a:p>
          <a:p>
            <a:pPr>
              <a:spcBef>
                <a:spcPts val="600"/>
              </a:spcBef>
            </a:pPr>
            <a:r>
              <a:rPr sz="1900" b="0" i="0">
                <a:solidFill>
                  <a:srgbClr val="6B7280"/>
                </a:solidFill>
                <a:latin typeface="Calibri"/>
              </a:rPr>
              <a:t>Once installed, open the VS Code terminal and verify: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37560"/>
            <a:ext cx="11064240" cy="5303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000">
                <a:solidFill>
                  <a:srgbClr val="9AE0B4"/>
                </a:solidFill>
                <a:latin typeface="Courier New"/>
              </a:rPr>
              <a:t>   node --version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0" i="1">
                <a:solidFill>
                  <a:srgbClr val="6B7280"/>
                </a:solidFill>
                <a:latin typeface="Calibri"/>
              </a:rPr>
              <a:t>You should see a version number. If you do, you are ready to move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913A"/>
                </a:solidFill>
                <a:latin typeface="Calibri"/>
              </a:rPr>
              <a:t>Step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Install VS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Go to  code.visualstudio.com  and download the version for your operating system.</a:t>
            </a:r>
          </a:p>
          <a:p>
            <a:pPr>
              <a:spcBef>
                <a:spcPts val="600"/>
              </a:spcBef>
            </a:pPr>
            <a:r>
              <a:rPr sz="2100" b="0" i="0">
                <a:solidFill>
                  <a:srgbClr val="6B7280"/>
                </a:solidFill>
                <a:latin typeface="Calibri"/>
              </a:rPr>
              <a:t>Run the installer and accept all defaults.</a:t>
            </a:r>
          </a:p>
          <a:p>
            <a:pPr>
              <a:spcBef>
                <a:spcPts val="200"/>
              </a:spcBef>
            </a:pPr>
            <a:r>
              <a:rPr sz="600" b="0" i="0">
                <a:solidFill>
                  <a:srgbClr val="0D2B4E"/>
                </a:solidFill>
                <a:latin typeface="Calibri"/>
              </a:rPr>
              <a:t/>
            </a:r>
          </a:p>
          <a:p>
            <a:pPr>
              <a:spcBef>
                <a:spcPts val="600"/>
              </a:spcBef>
            </a:pPr>
            <a:r>
              <a:rPr sz="1900" b="0" i="0">
                <a:solidFill>
                  <a:srgbClr val="6B7280"/>
                </a:solidFill>
                <a:latin typeface="Calibri"/>
              </a:rPr>
              <a:t>VS Code is the workspace Claude Code lives inside. Think of it as the cockpit -- your files are on the left, Claude is on the right, and everything runs from the terminal at the bottom.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913A"/>
                </a:solidFill>
                <a:latin typeface="Calibri"/>
              </a:rPr>
              <a:t>Step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Install Claude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Open the VS Code terminal with  Ctrl + `  (the backtick key, top-left of your keyboard).</a:t>
            </a:r>
          </a:p>
          <a:p>
            <a:pPr>
              <a:spcBef>
                <a:spcPts val="600"/>
              </a:spcBef>
            </a:pPr>
            <a:r>
              <a:rPr sz="1900" b="0" i="0">
                <a:solidFill>
                  <a:srgbClr val="6B7280"/>
                </a:solidFill>
                <a:latin typeface="Calibri"/>
              </a:rPr>
              <a:t>Run this command: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88920"/>
            <a:ext cx="11064240" cy="5303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000">
                <a:solidFill>
                  <a:srgbClr val="9AE0B4"/>
                </a:solidFill>
                <a:latin typeface="Courier New"/>
              </a:rPr>
              <a:t>   npm install -g @anthropic-ai/claude-code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93008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900" b="0" i="0">
                <a:solidFill>
                  <a:srgbClr val="6B7280"/>
                </a:solidFill>
                <a:latin typeface="Calibri"/>
              </a:rPr>
              <a:t>When it finishes, verify the install: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77639"/>
            <a:ext cx="11064240" cy="5303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000">
                <a:solidFill>
                  <a:srgbClr val="9AE0B4"/>
                </a:solidFill>
                <a:latin typeface="Courier New"/>
              </a:rPr>
              <a:t>   claude --version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8172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0" i="1">
                <a:solidFill>
                  <a:srgbClr val="6B7280"/>
                </a:solidFill>
                <a:latin typeface="Calibri"/>
              </a:rPr>
              <a:t>You should see a version number. Claude Code is installed.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Full install guide:  docs.anthropic.com/en/docs/claude-code/quickstart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913A"/>
                </a:solidFill>
                <a:latin typeface="Calibri"/>
              </a:rPr>
              <a:t>Step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Create Your Workspace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Create a new folder on your Desktop. Name it whatever makes sense -- your name, your role, or your organization.</a:t>
            </a:r>
          </a:p>
          <a:p>
            <a:pPr>
              <a:spcBef>
                <a:spcPts val="60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In VS Code:  File  →  Open Folder  →  select the folder you just created.</a:t>
            </a:r>
          </a:p>
          <a:p>
            <a:pPr>
              <a:spcBef>
                <a:spcPts val="200"/>
              </a:spcBef>
            </a:pPr>
            <a:r>
              <a:rPr sz="600" b="0" i="0">
                <a:solidFill>
                  <a:srgbClr val="0D2B4E"/>
                </a:solidFill>
                <a:latin typeface="Calibri"/>
              </a:rPr>
              <a:t/>
            </a:r>
          </a:p>
          <a:p>
            <a:pPr>
              <a:spcBef>
                <a:spcPts val="600"/>
              </a:spcBef>
            </a:pPr>
            <a:r>
              <a:rPr sz="1900" b="0" i="0">
                <a:solidFill>
                  <a:srgbClr val="6B7280"/>
                </a:solidFill>
                <a:latin typeface="Calibri"/>
              </a:rPr>
              <a:t>This folder is your home base. Everything Claude builds with you today lives here -- your context bank, your files, your templates, your automations. Claude reads this folder every time you open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913A"/>
                </a:solidFill>
                <a:latin typeface="Calibri"/>
              </a:rPr>
              <a:t>Step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Install Extensions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Open the Extensions panel with  Ctrl + Shift + X  and search for and install both of these: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4E"/>
                </a:solidFill>
                <a:latin typeface="Calibri"/>
              </a:rPr>
              <a:t>Claude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3288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Calibri"/>
              </a:rPr>
              <a:t>by Anthropic -- this is the AI layer inside VS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4E"/>
                </a:solidFill>
                <a:latin typeface="Calibri"/>
              </a:rPr>
              <a:t>Material Icon Theme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3872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Calibri"/>
              </a:rPr>
              <a:t>makes your file explorer easier to read 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913A"/>
                </a:solidFill>
                <a:latin typeface="Calibri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4E"/>
                </a:solidFill>
                <a:latin typeface="Calibri"/>
              </a:rPr>
              <a:t>Markdown Preview Enhanced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4456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6B7280"/>
                </a:solidFill>
                <a:latin typeface="Calibri"/>
              </a:rPr>
              <a:t>auto-opens .md files in a clean readable preview instead of raw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</a:pPr>
            <a:r>
              <a:rPr sz="1700" b="0" i="0">
                <a:solidFill>
                  <a:srgbClr val="6B7280"/>
                </a:solidFill>
                <a:latin typeface="Calibri"/>
              </a:rPr>
              <a:t>Once installed, right-click any .md file and select  "Open Preview"  -- or press  Ctrl + Shift + V  (Cmd + Shift + V on Mac)  to toggle preview at any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913A"/>
                </a:solidFill>
                <a:latin typeface="Calibri"/>
              </a:rPr>
              <a:t>Step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300" b="1" i="0">
                <a:solidFill>
                  <a:srgbClr val="0D2B4E"/>
                </a:solidFill>
                <a:latin typeface="Calibri"/>
              </a:rPr>
              <a:t>Log In and Confirm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365760" cy="50292"/>
          </a:xfrm>
          <a:prstGeom prst="rect">
            <a:avLst/>
          </a:prstGeom>
          <a:solidFill>
            <a:srgbClr val="C99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Click the Claude Code icon in the VS Code sidebar.</a:t>
            </a:r>
          </a:p>
          <a:p>
            <a:pPr>
              <a:spcBef>
                <a:spcPts val="600"/>
              </a:spcBef>
            </a:pPr>
            <a:r>
              <a:rPr sz="2100" b="0" i="0">
                <a:solidFill>
                  <a:srgbClr val="6B7280"/>
                </a:solidFill>
                <a:latin typeface="Calibri"/>
              </a:rPr>
              <a:t>Log in with your Claude.ai Pro account.</a:t>
            </a:r>
          </a:p>
          <a:p>
            <a:pPr>
              <a:spcBef>
                <a:spcPts val="200"/>
              </a:spcBef>
            </a:pPr>
            <a:r>
              <a:rPr sz="600" b="0" i="0">
                <a:solidFill>
                  <a:srgbClr val="0D2B4E"/>
                </a:solidFill>
                <a:latin typeface="Calibri"/>
              </a:rPr>
              <a:t/>
            </a:r>
          </a:p>
          <a:p>
            <a:pPr>
              <a:spcBef>
                <a:spcPts val="600"/>
              </a:spcBef>
            </a:pPr>
            <a:r>
              <a:rPr sz="2100" b="0" i="0">
                <a:solidFill>
                  <a:srgbClr val="0D2B4E"/>
                </a:solidFill>
                <a:latin typeface="Calibri"/>
              </a:rPr>
              <a:t>Once logged in, type  "hello"  in the Claude panel and hit Enter.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C9913A"/>
                </a:solidFill>
                <a:latin typeface="Calibri"/>
              </a:rPr>
              <a:t>If Claude responds, you are 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Claude Code is running.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260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C9913A"/>
                </a:solidFill>
                <a:latin typeface="Calibri"/>
              </a:rPr>
              <a:t>Next up: making it yours.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